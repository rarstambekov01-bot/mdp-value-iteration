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74" r:id="rId25"/>
    <p:sldId id="275" r:id="rId26"/>
    <p:sldId id="276" r:id="rId2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  <Relationship Id="rId25" Type="http://schemas.openxmlformats.org/officeDocument/2006/relationships/slide" Target="slides/slide19.xml"/>
  <Relationship Id="rId26" Type="http://schemas.openxmlformats.org/officeDocument/2006/relationships/slide" Target="slides/slide20.xml"/>
  <Relationship Id="rId27" Type="http://schemas.openxmlformats.org/officeDocument/2006/relationships/slide" Target="slides/slide21.xml"/>
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qairu_logo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0152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4000" b="1">
                <a:solidFill>
                  <a:srgbClr val="1F2937"/>
                </a:solidFill>
                <a:latin typeface="Calibri"/>
              </a:rPr>
              <a:t>Практикалық жұмыс № 5</a:t>
            </a:r>
          </a:p>
        </p:txBody>
      </p:sp>
      <p:sp>
        <p:nvSpPr>
          <p:cNvPr id="3" name="Rectangle 2"/>
          <p:cNvSpPr/>
          <p:nvPr/>
        </p:nvSpPr>
        <p:spPr>
          <a:xfrm>
            <a:off x="5394960" y="3108960"/>
            <a:ext cx="1371600" cy="64008"/>
          </a:xfrm>
          <a:prstGeom prst="rect">
            <a:avLst/>
          </a:prstGeom>
          <a:solidFill>
            <a:srgbClr val="D4A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383280"/>
            <a:ext cx="10360152" cy="1280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0">
                <a:solidFill>
                  <a:srgbClr val="1F2937"/>
                </a:solidFill>
                <a:latin typeface="Calibri"/>
              </a:rPr>
              <a:t>Марков шешім қабылдау процестері және мәндер итерациясы</a:t>
            </a:r>
          </a:p>
        </p:txBody>
      </p:sp>
      <p:pic>
        <p:nvPicPr>
          <p:cNvPr id="5" name="QAIRU logo" descr="QAIRU - Qazaq AI Research University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4247" y="500000"/>
            <a:ext cx="2743200" cy="1484000"/>
          </a:xfrm>
          <a:prstGeom prst="rect">
            <a:avLst/>
          </a:prstGeom>
        </p:spPr>
      </p:pic>
      <p:sp>
        <p:nvSpPr>
          <p:cNvPr id="6" name="Authors"/>
          <p:cNvSpPr txBox="1"/>
          <p:nvPr/>
        </p:nvSpPr>
        <p:spPr>
          <a:xfrm>
            <a:off x="5486400" y="5440000"/>
            <a:ext cx="5788152" cy="8000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lang="kk-KZ" sz="2000" b="0">
                <a:solidFill>
                  <a:srgbClr val="1F2937"/>
                </a:solidFill>
                <a:latin typeface="Calibri"/>
              </a:rPr>
              <a:t>Мұғалімі: Тамара Жукабаева</a:t>
            </a:r>
          </a:p>
          <a:p>
            <a:pPr algn="r">
              <a:spcAft>
                <a:spcPts val="400"/>
              </a:spcAft>
            </a:pPr>
            <a:r>
              <a:rPr lang="kk-KZ" sz="2000" b="0">
                <a:solidFill>
                  <a:srgbClr val="1F2937"/>
                </a:solidFill>
                <a:latin typeface="Calibri"/>
              </a:rPr>
              <a:t>Орындаған: Арстамбеков Рахат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F2937"/>
                </a:solidFill>
                <a:latin typeface="Calibri"/>
              </a:rPr>
              <a:t>Есептің шарты: жеткізу роботы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14400"/>
            <a:ext cx="1097280" cy="54864"/>
          </a:xfrm>
          <a:prstGeom prst="rect">
            <a:avLst/>
          </a:prstGeom>
          <a:solidFill>
            <a:srgbClr val="D4A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6B7280"/>
                </a:solidFill>
                <a:latin typeface="Calibri"/>
              </a:rPr>
              <a:t>Қойма ішіндегі робот S нүктесінен шығып, жүкті G нүктесіне жеткізуі керек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64008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5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10058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1005840" cy="10058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F2937"/>
                </a:solidFill>
                <a:latin typeface="Calibri"/>
              </a:rPr>
              <a:t>A</a:t>
            </a:r>
          </a:p>
        </p:txBody>
      </p:sp>
      <p:sp>
        <p:nvSpPr>
          <p:cNvPr id="8" name="Rectangle 7"/>
          <p:cNvSpPr/>
          <p:nvPr/>
        </p:nvSpPr>
        <p:spPr>
          <a:xfrm>
            <a:off x="1737360" y="1828800"/>
            <a:ext cx="10058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37360" y="1828800"/>
            <a:ext cx="1005840" cy="10058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F2937"/>
                </a:solidFill>
                <a:latin typeface="Calibri"/>
              </a:rPr>
              <a:t>B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0" y="1828800"/>
            <a:ext cx="10058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0" y="1828800"/>
            <a:ext cx="1005840" cy="10058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F2937"/>
                </a:solidFill>
                <a:latin typeface="Calibri"/>
              </a:rPr>
              <a:t>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49040" y="1828800"/>
            <a:ext cx="1005840" cy="1005840"/>
          </a:xfrm>
          <a:prstGeom prst="rect">
            <a:avLst/>
          </a:prstGeom>
          <a:solidFill>
            <a:srgbClr val="DDF3E4"/>
          </a:solidFill>
          <a:ln w="12700">
            <a:solidFill>
              <a:srgbClr val="C9D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49040" y="1828800"/>
            <a:ext cx="1005840" cy="10058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F2937"/>
                </a:solidFill>
                <a:latin typeface="Calibri"/>
              </a:rPr>
              <a:t>G</a:t>
            </a:r>
          </a:p>
          <a:p>
            <a:pPr algn="ctr">
              <a:spcAft>
                <a:spcPts val="0"/>
              </a:spcAft>
            </a:pPr>
            <a:r>
              <a:rPr sz="1500" b="0">
                <a:solidFill>
                  <a:srgbClr val="6B7280"/>
                </a:solidFill>
                <a:latin typeface="Calibri"/>
              </a:rPr>
              <a:t>+10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2834640"/>
            <a:ext cx="10058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834640"/>
            <a:ext cx="1005840" cy="10058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F2937"/>
                </a:solidFill>
                <a:latin typeface="Calibri"/>
              </a:rPr>
              <a:t>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737360" y="2834640"/>
            <a:ext cx="1005840" cy="1005840"/>
          </a:xfrm>
          <a:prstGeom prst="rect">
            <a:avLst/>
          </a:prstGeom>
          <a:solidFill>
            <a:srgbClr val="DADDE2"/>
          </a:solidFill>
          <a:ln w="12700">
            <a:solidFill>
              <a:srgbClr val="C9D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737360" y="2834640"/>
            <a:ext cx="1005840" cy="10058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F2937"/>
                </a:solidFill>
                <a:latin typeface="Calibri"/>
              </a:rPr>
              <a:t>#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0" y="2834640"/>
            <a:ext cx="10058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0" y="2834640"/>
            <a:ext cx="1005840" cy="10058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F2937"/>
                </a:solidFill>
                <a:latin typeface="Calibri"/>
              </a:rPr>
              <a:t>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749040" y="2834640"/>
            <a:ext cx="1005840" cy="1005840"/>
          </a:xfrm>
          <a:prstGeom prst="rect">
            <a:avLst/>
          </a:prstGeom>
          <a:solidFill>
            <a:srgbClr val="FBE1E1"/>
          </a:solidFill>
          <a:ln w="12700">
            <a:solidFill>
              <a:srgbClr val="C9D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49040" y="2834640"/>
            <a:ext cx="1005840" cy="10058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F2937"/>
                </a:solidFill>
                <a:latin typeface="Calibri"/>
              </a:rPr>
              <a:t>X</a:t>
            </a:r>
          </a:p>
          <a:p>
            <a:pPr algn="ctr">
              <a:spcAft>
                <a:spcPts val="0"/>
              </a:spcAft>
            </a:pPr>
            <a:r>
              <a:rPr sz="1500" b="0">
                <a:solidFill>
                  <a:srgbClr val="6B7280"/>
                </a:solidFill>
                <a:latin typeface="Calibri"/>
              </a:rPr>
              <a:t>−10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3840480"/>
            <a:ext cx="1005840" cy="1005840"/>
          </a:xfrm>
          <a:prstGeom prst="rect">
            <a:avLst/>
          </a:prstGeom>
          <a:solidFill>
            <a:srgbClr val="FFF3D3"/>
          </a:solidFill>
          <a:ln w="12700">
            <a:solidFill>
              <a:srgbClr val="C9D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3840480"/>
            <a:ext cx="1005840" cy="10058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F2937"/>
                </a:solidFill>
                <a:latin typeface="Calibri"/>
              </a:rPr>
              <a:t>S</a:t>
            </a:r>
          </a:p>
          <a:p>
            <a:pPr algn="ctr">
              <a:spcAft>
                <a:spcPts val="0"/>
              </a:spcAft>
            </a:pPr>
            <a:r>
              <a:rPr sz="1500" b="0">
                <a:solidFill>
                  <a:srgbClr val="6B7280"/>
                </a:solidFill>
                <a:latin typeface="Calibri"/>
              </a:rPr>
              <a:t>старт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737360" y="3840480"/>
            <a:ext cx="10058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737360" y="3840480"/>
            <a:ext cx="1005840" cy="10058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F2937"/>
                </a:solidFill>
                <a:latin typeface="Calibri"/>
              </a:rPr>
              <a:t>F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0" y="3840480"/>
            <a:ext cx="10058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43200" y="3840480"/>
            <a:ext cx="1005840" cy="10058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F2937"/>
                </a:solidFill>
                <a:latin typeface="Calibri"/>
              </a:rPr>
              <a:t>H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749040" y="3840480"/>
            <a:ext cx="10058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49040" y="3840480"/>
            <a:ext cx="1005840" cy="10058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F2937"/>
                </a:solidFill>
                <a:latin typeface="Calibri"/>
              </a:rPr>
              <a:t>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4937760"/>
            <a:ext cx="40233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6B7280"/>
                </a:solidFill>
                <a:latin typeface="Calibri"/>
              </a:rPr>
              <a:t>G — жеткізу нүктесі, X — қауіпті ұяшық, # — қабырға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394960" y="1737360"/>
            <a:ext cx="3017520" cy="1828800"/>
          </a:xfrm>
          <a:prstGeom prst="roundRect">
            <a:avLst>
              <a:gd name="adj" fmla="val 8000"/>
            </a:avLst>
          </a:prstGeom>
          <a:solidFill>
            <a:srgbClr val="E6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532120" y="1810512"/>
            <a:ext cx="274320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2937"/>
                </a:solidFill>
                <a:latin typeface="Calibri"/>
              </a:rPr>
              <a:t>Әрекеттер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32120" y="2244852"/>
            <a:ext cx="2743200" cy="11887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F2937"/>
                </a:solidFill>
                <a:latin typeface="Calibri"/>
              </a:rPr>
              <a:t>Робот 4 бағытты таңдайды:
UP ↑  DOWN ↓
LEFT ←  RIGHT →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641080" y="1737360"/>
            <a:ext cx="3017520" cy="1828800"/>
          </a:xfrm>
          <a:prstGeom prst="roundRect">
            <a:avLst>
              <a:gd name="adj" fmla="val 8000"/>
            </a:avLst>
          </a:prstGeom>
          <a:solidFill>
            <a:srgbClr val="FFF3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778240" y="1810512"/>
            <a:ext cx="274320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2937"/>
                </a:solidFill>
                <a:latin typeface="Calibri"/>
              </a:rPr>
              <a:t>Марапаттар (ұпай)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78240" y="2244852"/>
            <a:ext cx="2743200" cy="11887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F2937"/>
                </a:solidFill>
                <a:latin typeface="Calibri"/>
              </a:rPr>
              <a:t>G-ге жету: +10
X-ке түсу: −10
Әр қадам: −0.1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394960" y="3794760"/>
            <a:ext cx="6263640" cy="2011680"/>
          </a:xfrm>
          <a:prstGeom prst="roundRect">
            <a:avLst>
              <a:gd name="adj" fmla="val 8000"/>
            </a:avLst>
          </a:prstGeom>
          <a:solidFill>
            <a:srgbClr val="DDF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532120" y="3867912"/>
            <a:ext cx="598932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2937"/>
                </a:solidFill>
                <a:latin typeface="Calibri"/>
              </a:rPr>
              <a:t>Қиындығы неде?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532120" y="4302252"/>
            <a:ext cx="5989320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F2937"/>
                </a:solidFill>
                <a:latin typeface="Calibri"/>
              </a:rPr>
              <a:t>Робот әрқашан дәл қалаған жаққа бармайды — еден сырғанақ сияқты. «Жоғары» десең, кейде солға немесе оңға ауытқып кетеді. Сондықтан нәтиже белгісіз, ықтималдықпен ойлаймыз.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F2937"/>
                </a:solidFill>
                <a:latin typeface="Calibri"/>
              </a:rPr>
              <a:t>1-тапсырма — MDP сипаттамасы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14400"/>
            <a:ext cx="1097280" cy="54864"/>
          </a:xfrm>
          <a:prstGeom prst="rect">
            <a:avLst/>
          </a:prstGeom>
          <a:solidFill>
            <a:srgbClr val="D4A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6B7280"/>
                </a:solidFill>
                <a:latin typeface="Calibri"/>
              </a:rPr>
              <a:t>MDP — «ойынның ережелері»: қайда тұрмыз, не істей аламыз, не болады, қанша ұпай аламыз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64008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91640"/>
          <a:ext cx="11155680" cy="4279392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377440"/>
                <a:gridCol w="4754880"/>
                <a:gridCol w="4023360"/>
              </a:tblGrid>
              <a:tr h="713232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1F2937"/>
                          </a:solidFill>
                          <a:latin typeface="Calibri"/>
                        </a:rPr>
                        <a:t>Бөлім</a:t>
                      </a:r>
                    </a:p>
                  </a:txBody>
                  <a:tcPr anchor="ctr" marL="73152" marR="73152">
                    <a:solidFill>
                      <a:srgbClr val="E6EF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1F2937"/>
                          </a:solidFill>
                          <a:latin typeface="Calibri"/>
                        </a:rPr>
                        <a:t>Біздің жауап</a:t>
                      </a:r>
                    </a:p>
                  </a:txBody>
                  <a:tcPr anchor="ctr" marL="73152" marR="73152">
                    <a:solidFill>
                      <a:srgbClr val="E6EF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1F2937"/>
                          </a:solidFill>
                          <a:latin typeface="Calibri"/>
                        </a:rPr>
                        <a:t>Қарапайым түсіндірме</a:t>
                      </a:r>
                    </a:p>
                  </a:txBody>
                  <a:tcPr anchor="ctr" marL="73152" marR="73152">
                    <a:solidFill>
                      <a:srgbClr val="E6EFFA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1F2937"/>
                          </a:solidFill>
                          <a:latin typeface="Calibri"/>
                        </a:rPr>
                        <a:t>Күйлер S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F2937"/>
                          </a:solidFill>
                          <a:latin typeface="Calibri"/>
                        </a:rPr>
                        <a:t>A, B, C, D, E, S, F, H, I, G, X (қабырға # жоқ)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F2937"/>
                          </a:solidFill>
                          <a:latin typeface="Calibri"/>
                        </a:rPr>
                        <a:t>Робот тұра алатын барлық ұяшық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1F2937"/>
                          </a:solidFill>
                          <a:latin typeface="Calibri"/>
                        </a:rPr>
                        <a:t>Әрекеттер A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F2937"/>
                          </a:solidFill>
                          <a:latin typeface="Calibri"/>
                        </a:rPr>
                        <a:t>UP, DOWN, LEFT, RIGHT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F2937"/>
                          </a:solidFill>
                          <a:latin typeface="Calibri"/>
                        </a:rPr>
                        <a:t>Робот жасай алатын 4 қозғалыс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1F2937"/>
                          </a:solidFill>
                          <a:latin typeface="Calibri"/>
                        </a:rPr>
                        <a:t>Бастапқы күй s₀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F2937"/>
                          </a:solidFill>
                          <a:latin typeface="Calibri"/>
                        </a:rPr>
                        <a:t>S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F2937"/>
                          </a:solidFill>
                          <a:latin typeface="Calibri"/>
                        </a:rPr>
                        <a:t>Робот осы жерден бастайды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1F2937"/>
                          </a:solidFill>
                          <a:latin typeface="Calibri"/>
                        </a:rPr>
                        <a:t>Терминалдық күйлер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F2937"/>
                          </a:solidFill>
                          <a:latin typeface="Calibri"/>
                        </a:rPr>
                        <a:t>G және X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F2937"/>
                          </a:solidFill>
                          <a:latin typeface="Calibri"/>
                        </a:rPr>
                        <a:t>Осыған жетсе, ойын аяқталады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1F2937"/>
                          </a:solidFill>
                          <a:latin typeface="Calibri"/>
                        </a:rPr>
                        <a:t>Марапаттар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F2937"/>
                          </a:solidFill>
                          <a:latin typeface="Calibri"/>
                        </a:rPr>
                        <a:t>G → +10;  X → −10;  қалған әр қадам → −0.1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F2937"/>
                          </a:solidFill>
                          <a:latin typeface="Calibri"/>
                        </a:rPr>
                        <a:t>Мақсатқа жет, қауіптен қаш, қадамды аз жаса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612648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6B7280"/>
                </a:solidFill>
                <a:latin typeface="Calibri"/>
              </a:rPr>
              <a:t>Мысал: «−0.1» — бұл жол ақысы сияқты: қанша көп жүрсең, соғұрлым көп төлейсің.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F2937"/>
                </a:solidFill>
                <a:latin typeface="Calibri"/>
              </a:rPr>
              <a:t>2-тапсырма — Белгісіздік: 80 / 10 / 10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14400"/>
            <a:ext cx="1097280" cy="54864"/>
          </a:xfrm>
          <a:prstGeom prst="rect">
            <a:avLst/>
          </a:prstGeom>
          <a:solidFill>
            <a:srgbClr val="D4A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6B7280"/>
                </a:solidFill>
                <a:latin typeface="Calibri"/>
              </a:rPr>
              <a:t>Мысал: сырғанақ еденде арбаны алға итердің — көбіне түзу барады, бірақ кейде бүйірге сырғиды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64008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7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920240"/>
            <a:ext cx="10058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1005840" cy="10058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F2937"/>
                </a:solidFill>
                <a:latin typeface="Calibri"/>
              </a:rPr>
              <a:t>A</a:t>
            </a:r>
          </a:p>
        </p:txBody>
      </p:sp>
      <p:sp>
        <p:nvSpPr>
          <p:cNvPr id="8" name="Rectangle 7"/>
          <p:cNvSpPr/>
          <p:nvPr/>
        </p:nvSpPr>
        <p:spPr>
          <a:xfrm>
            <a:off x="1737360" y="1920240"/>
            <a:ext cx="10058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37360" y="1920240"/>
            <a:ext cx="1005840" cy="10058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F2937"/>
                </a:solidFill>
                <a:latin typeface="Calibri"/>
              </a:rPr>
              <a:t>B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0" y="1920240"/>
            <a:ext cx="10058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0" y="1920240"/>
            <a:ext cx="1005840" cy="10058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F2937"/>
                </a:solidFill>
                <a:latin typeface="Calibri"/>
              </a:rPr>
              <a:t>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49040" y="1920240"/>
            <a:ext cx="1005840" cy="1005840"/>
          </a:xfrm>
          <a:prstGeom prst="rect">
            <a:avLst/>
          </a:prstGeom>
          <a:solidFill>
            <a:srgbClr val="DDF3E4"/>
          </a:solidFill>
          <a:ln w="12700">
            <a:solidFill>
              <a:srgbClr val="C9D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49040" y="1920240"/>
            <a:ext cx="1005840" cy="10058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F2937"/>
                </a:solidFill>
                <a:latin typeface="Calibri"/>
              </a:rPr>
              <a:t>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2926080"/>
            <a:ext cx="10058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926080"/>
            <a:ext cx="1005840" cy="10058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F2937"/>
                </a:solidFill>
                <a:latin typeface="Calibri"/>
              </a:rPr>
              <a:t>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737360" y="2926080"/>
            <a:ext cx="1005840" cy="1005840"/>
          </a:xfrm>
          <a:prstGeom prst="rect">
            <a:avLst/>
          </a:prstGeom>
          <a:solidFill>
            <a:srgbClr val="DADDE2"/>
          </a:solidFill>
          <a:ln w="12700">
            <a:solidFill>
              <a:srgbClr val="C9D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737360" y="2926080"/>
            <a:ext cx="1005840" cy="10058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F2937"/>
                </a:solidFill>
                <a:latin typeface="Calibri"/>
              </a:rPr>
              <a:t>#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0" y="2926080"/>
            <a:ext cx="10058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0" y="2926080"/>
            <a:ext cx="1005840" cy="10058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F2937"/>
                </a:solidFill>
                <a:latin typeface="Calibri"/>
              </a:rPr>
              <a:t>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749040" y="2926080"/>
            <a:ext cx="1005840" cy="1005840"/>
          </a:xfrm>
          <a:prstGeom prst="rect">
            <a:avLst/>
          </a:prstGeom>
          <a:solidFill>
            <a:srgbClr val="FBE1E1"/>
          </a:solidFill>
          <a:ln w="12700">
            <a:solidFill>
              <a:srgbClr val="C9D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49040" y="2926080"/>
            <a:ext cx="1005840" cy="10058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F2937"/>
                </a:solidFill>
                <a:latin typeface="Calibri"/>
              </a:rPr>
              <a:t>X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3931920"/>
            <a:ext cx="1005840" cy="1005840"/>
          </a:xfrm>
          <a:prstGeom prst="rect">
            <a:avLst/>
          </a:prstGeom>
          <a:solidFill>
            <a:srgbClr val="FFF3D3"/>
          </a:solidFill>
          <a:ln w="12700">
            <a:solidFill>
              <a:srgbClr val="C9D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3931920"/>
            <a:ext cx="1005840" cy="10058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F2937"/>
                </a:solidFill>
                <a:latin typeface="Calibri"/>
              </a:rPr>
              <a:t>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737360" y="3931920"/>
            <a:ext cx="10058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737360" y="3931920"/>
            <a:ext cx="1005840" cy="10058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F2937"/>
                </a:solidFill>
                <a:latin typeface="Calibri"/>
              </a:rPr>
              <a:t>F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0" y="3931920"/>
            <a:ext cx="1005840" cy="1005840"/>
          </a:xfrm>
          <a:prstGeom prst="rect">
            <a:avLst/>
          </a:prstGeom>
          <a:solidFill>
            <a:srgbClr val="E6EFFA"/>
          </a:solidFill>
          <a:ln w="12700">
            <a:solidFill>
              <a:srgbClr val="C9D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43200" y="3931920"/>
            <a:ext cx="1005840" cy="10058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F2937"/>
                </a:solidFill>
                <a:latin typeface="Calibri"/>
              </a:rPr>
              <a:t>H</a:t>
            </a:r>
          </a:p>
          <a:p>
            <a:pPr algn="ctr">
              <a:spcAft>
                <a:spcPts val="0"/>
              </a:spcAft>
            </a:pPr>
            <a:r>
              <a:rPr sz="1500" b="0">
                <a:solidFill>
                  <a:srgbClr val="6B7280"/>
                </a:solidFill>
                <a:latin typeface="Calibri"/>
              </a:rPr>
              <a:t>UP таңдады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749040" y="3931920"/>
            <a:ext cx="10058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49040" y="3931920"/>
            <a:ext cx="1005840" cy="10058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F2937"/>
                </a:solidFill>
                <a:latin typeface="Calibri"/>
              </a:rPr>
              <a:t>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074920"/>
            <a:ext cx="457200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6B7280"/>
                </a:solidFill>
                <a:latin typeface="Calibri"/>
              </a:rPr>
              <a:t>H күйінде UP таңдасақ: жоғары → E, солға → F, оңға → I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0" y="1783080"/>
            <a:ext cx="3017520" cy="1188720"/>
          </a:xfrm>
          <a:prstGeom prst="roundRect">
            <a:avLst>
              <a:gd name="adj" fmla="val 8000"/>
            </a:avLst>
          </a:prstGeom>
          <a:solidFill>
            <a:srgbClr val="DDF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623560" y="1856231"/>
            <a:ext cx="274320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2937"/>
                </a:solidFill>
                <a:latin typeface="Calibri"/>
              </a:rPr>
              <a:t>0.8  (80%)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23560" y="2290572"/>
            <a:ext cx="274320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F2937"/>
                </a:solidFill>
                <a:latin typeface="Calibri"/>
              </a:rPr>
              <a:t>таңдаған бағытта барады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641080" y="1783080"/>
            <a:ext cx="3017520" cy="1188720"/>
          </a:xfrm>
          <a:prstGeom prst="roundRect">
            <a:avLst>
              <a:gd name="adj" fmla="val 8000"/>
            </a:avLst>
          </a:prstGeom>
          <a:solidFill>
            <a:srgbClr val="FFF3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778240" y="1856231"/>
            <a:ext cx="274320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2937"/>
                </a:solidFill>
                <a:latin typeface="Calibri"/>
              </a:rPr>
              <a:t>0.1  (10%)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78240" y="2290572"/>
            <a:ext cx="274320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F2937"/>
                </a:solidFill>
                <a:latin typeface="Calibri"/>
              </a:rPr>
              <a:t>сол жаққа ауытқиды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86400" y="3154680"/>
            <a:ext cx="3017520" cy="1188720"/>
          </a:xfrm>
          <a:prstGeom prst="roundRect">
            <a:avLst>
              <a:gd name="adj" fmla="val 8000"/>
            </a:avLst>
          </a:prstGeom>
          <a:solidFill>
            <a:srgbClr val="FFF3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623560" y="3227832"/>
            <a:ext cx="274320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2937"/>
                </a:solidFill>
                <a:latin typeface="Calibri"/>
              </a:rPr>
              <a:t>0.1  (10%)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23560" y="3662172"/>
            <a:ext cx="274320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F2937"/>
                </a:solidFill>
                <a:latin typeface="Calibri"/>
              </a:rPr>
              <a:t>оң жаққа ауытқиды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641080" y="3154680"/>
            <a:ext cx="3017520" cy="1188720"/>
          </a:xfrm>
          <a:prstGeom prst="roundRect">
            <a:avLst>
              <a:gd name="adj" fmla="val 8000"/>
            </a:avLst>
          </a:prstGeom>
          <a:solidFill>
            <a:srgbClr val="FBE1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778240" y="3227832"/>
            <a:ext cx="274320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F2937"/>
                </a:solidFill>
                <a:latin typeface="Calibri"/>
              </a:rPr>
              <a:t>Қабырға / шеті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78240" y="3643122"/>
            <a:ext cx="274320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Бағыт қабырғаға немесе шетке тіресе, робот орнында қалады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486400" y="4526280"/>
            <a:ext cx="6172200" cy="1280160"/>
          </a:xfrm>
          <a:prstGeom prst="roundRect">
            <a:avLst>
              <a:gd name="adj" fmla="val 8000"/>
            </a:avLst>
          </a:prstGeom>
          <a:solidFill>
            <a:srgbClr val="E6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623560" y="4599432"/>
            <a:ext cx="589788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2937"/>
                </a:solidFill>
                <a:latin typeface="Calibri"/>
              </a:rPr>
              <a:t>Тексеру: 0.8 + 0.1 + 0.1 = 1.0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23560" y="5033772"/>
            <a:ext cx="589788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F2937"/>
                </a:solidFill>
                <a:latin typeface="Calibri"/>
              </a:rPr>
              <a:t>Бір әрекеттің барлық нәтижелерінің ықтималдығының қосындысы әрқашан 1 болады — бір нәтиже міндетті түрде болады.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F2937"/>
                </a:solidFill>
                <a:latin typeface="Calibri"/>
              </a:rPr>
              <a:t>2-тапсырма — Ауысу ықтималдықтарының кестелері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14400"/>
            <a:ext cx="1097280" cy="54864"/>
          </a:xfrm>
          <a:prstGeom prst="rect">
            <a:avLst/>
          </a:prstGeom>
          <a:solidFill>
            <a:srgbClr val="D4A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6B7280"/>
                </a:solidFill>
                <a:latin typeface="Calibri"/>
              </a:rPr>
              <a:t>Үш жағдай: F-те RIGHT, E-де RIGHT, C-де RIGHT (RIGHT-тың бүйірлері: жоғары және төмен)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64008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36576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2937"/>
                </a:solidFill>
                <a:latin typeface="Calibri"/>
              </a:rPr>
              <a:t>F күйі, RIGHT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2103120"/>
          <a:ext cx="3611880" cy="18288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777240"/>
                <a:gridCol w="914400"/>
                <a:gridCol w="914400"/>
                <a:gridCol w="1005840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2937"/>
                          </a:solidFill>
                          <a:latin typeface="Calibri"/>
                        </a:rPr>
                        <a:t>Күй</a:t>
                      </a:r>
                    </a:p>
                  </a:txBody>
                  <a:tcPr anchor="ctr" marL="73152" marR="73152">
                    <a:solidFill>
                      <a:srgbClr val="E6EF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2937"/>
                          </a:solidFill>
                          <a:latin typeface="Calibri"/>
                        </a:rPr>
                        <a:t>Әрекет</a:t>
                      </a:r>
                    </a:p>
                  </a:txBody>
                  <a:tcPr anchor="ctr" marL="73152" marR="73152">
                    <a:solidFill>
                      <a:srgbClr val="E6EF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2937"/>
                          </a:solidFill>
                          <a:latin typeface="Calibri"/>
                        </a:rPr>
                        <a:t>Келесі</a:t>
                      </a:r>
                    </a:p>
                  </a:txBody>
                  <a:tcPr anchor="ctr" marL="73152" marR="73152">
                    <a:solidFill>
                      <a:srgbClr val="E6EF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2937"/>
                          </a:solidFill>
                          <a:latin typeface="Calibri"/>
                        </a:rPr>
                        <a:t>P</a:t>
                      </a:r>
                    </a:p>
                  </a:txBody>
                  <a:tcPr anchor="ctr" marL="73152" marR="73152">
                    <a:solidFill>
                      <a:srgbClr val="E6EFF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</a:rPr>
                        <a:t>F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</a:rPr>
                        <a:t>RIGHT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</a:rPr>
                        <a:t>H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</a:rPr>
                        <a:t>0.8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</a:rPr>
                        <a:t>F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</a:rPr>
                        <a:t>RIGHT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</a:rPr>
                        <a:t>F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</a:rPr>
                        <a:t>0.1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</a:rPr>
                        <a:t>F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</a:rPr>
                        <a:t>RIGHT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</a:rPr>
                        <a:t>F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</a:rPr>
                        <a:t>0.1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02920" y="4480560"/>
            <a:ext cx="3657600" cy="1600200"/>
          </a:xfrm>
          <a:prstGeom prst="roundRect">
            <a:avLst>
              <a:gd name="adj" fmla="val 8000"/>
            </a:avLst>
          </a:prstGeom>
          <a:solidFill>
            <a:srgbClr val="FFF3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4553712"/>
            <a:ext cx="338328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2937"/>
                </a:solidFill>
                <a:latin typeface="Calibri"/>
              </a:rPr>
              <a:t>Қалай шықты?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49952"/>
            <a:ext cx="3383280" cy="960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0.8: оңға → H.
0.1: жоғары — # қабырға → F-те қалады.
0.1: төмен — тор шеті → F-те қалады.
(F-тің жалпы ықтималдығы 0.2)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51960" y="1691640"/>
            <a:ext cx="36576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2937"/>
                </a:solidFill>
                <a:latin typeface="Calibri"/>
              </a:rPr>
              <a:t>E күйі, RIGHT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251960" y="2103120"/>
          <a:ext cx="3611880" cy="18288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777240"/>
                <a:gridCol w="914400"/>
                <a:gridCol w="914400"/>
                <a:gridCol w="1005840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2937"/>
                          </a:solidFill>
                          <a:latin typeface="Calibri"/>
                        </a:rPr>
                        <a:t>Күй</a:t>
                      </a:r>
                    </a:p>
                  </a:txBody>
                  <a:tcPr anchor="ctr" marL="73152" marR="73152">
                    <a:solidFill>
                      <a:srgbClr val="E6EF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2937"/>
                          </a:solidFill>
                          <a:latin typeface="Calibri"/>
                        </a:rPr>
                        <a:t>Әрекет</a:t>
                      </a:r>
                    </a:p>
                  </a:txBody>
                  <a:tcPr anchor="ctr" marL="73152" marR="73152">
                    <a:solidFill>
                      <a:srgbClr val="E6EF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2937"/>
                          </a:solidFill>
                          <a:latin typeface="Calibri"/>
                        </a:rPr>
                        <a:t>Келесі</a:t>
                      </a:r>
                    </a:p>
                  </a:txBody>
                  <a:tcPr anchor="ctr" marL="73152" marR="73152">
                    <a:solidFill>
                      <a:srgbClr val="E6EF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2937"/>
                          </a:solidFill>
                          <a:latin typeface="Calibri"/>
                        </a:rPr>
                        <a:t>P</a:t>
                      </a:r>
                    </a:p>
                  </a:txBody>
                  <a:tcPr anchor="ctr" marL="73152" marR="73152">
                    <a:solidFill>
                      <a:srgbClr val="E6EFF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</a:rPr>
                        <a:t>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</a:rPr>
                        <a:t>RIGHT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</a:rPr>
                        <a:t>X</a:t>
                      </a:r>
                    </a:p>
                  </a:txBody>
                  <a:tcPr anchor="ctr" marL="73152" marR="73152">
                    <a:solidFill>
                      <a:srgbClr val="FBE1E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</a:rPr>
                        <a:t>0.8</a:t>
                      </a:r>
                    </a:p>
                  </a:txBody>
                  <a:tcPr anchor="ctr" marL="73152" marR="73152">
                    <a:solidFill>
                      <a:srgbClr val="FBE1E1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</a:rPr>
                        <a:t>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</a:rPr>
                        <a:t>RIGHT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</a:rPr>
                        <a:t>0.1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</a:rPr>
                        <a:t>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</a:rPr>
                        <a:t>RIGHT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</a:rPr>
                        <a:t>H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</a:rPr>
                        <a:t>0.1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4251960" y="4480560"/>
            <a:ext cx="3657600" cy="1600200"/>
          </a:xfrm>
          <a:prstGeom prst="roundRect">
            <a:avLst>
              <a:gd name="adj" fmla="val 8000"/>
            </a:avLst>
          </a:prstGeom>
          <a:solidFill>
            <a:srgbClr val="FBE1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0" y="4553712"/>
            <a:ext cx="338328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2937"/>
                </a:solidFill>
                <a:latin typeface="Calibri"/>
              </a:rPr>
              <a:t>Қалай шықты?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4949952"/>
            <a:ext cx="3383280" cy="960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0.8: оңға → X (қауіпті!).
0.1: жоғары → C.
0.1: төмен → H.
E-де RIGHT таңдау қауіпті.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01000" y="1691640"/>
            <a:ext cx="36576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2937"/>
                </a:solidFill>
                <a:latin typeface="Calibri"/>
              </a:rPr>
              <a:t>C күйі, RIGHT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8001000" y="2103120"/>
          <a:ext cx="3611880" cy="18288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777240"/>
                <a:gridCol w="914400"/>
                <a:gridCol w="914400"/>
                <a:gridCol w="1005840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2937"/>
                          </a:solidFill>
                          <a:latin typeface="Calibri"/>
                        </a:rPr>
                        <a:t>Күй</a:t>
                      </a:r>
                    </a:p>
                  </a:txBody>
                  <a:tcPr anchor="ctr" marL="73152" marR="73152">
                    <a:solidFill>
                      <a:srgbClr val="E6EF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2937"/>
                          </a:solidFill>
                          <a:latin typeface="Calibri"/>
                        </a:rPr>
                        <a:t>Әрекет</a:t>
                      </a:r>
                    </a:p>
                  </a:txBody>
                  <a:tcPr anchor="ctr" marL="73152" marR="73152">
                    <a:solidFill>
                      <a:srgbClr val="E6EF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2937"/>
                          </a:solidFill>
                          <a:latin typeface="Calibri"/>
                        </a:rPr>
                        <a:t>Келесі</a:t>
                      </a:r>
                    </a:p>
                  </a:txBody>
                  <a:tcPr anchor="ctr" marL="73152" marR="73152">
                    <a:solidFill>
                      <a:srgbClr val="E6EF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2937"/>
                          </a:solidFill>
                          <a:latin typeface="Calibri"/>
                        </a:rPr>
                        <a:t>P</a:t>
                      </a:r>
                    </a:p>
                  </a:txBody>
                  <a:tcPr anchor="ctr" marL="73152" marR="73152">
                    <a:solidFill>
                      <a:srgbClr val="E6EFF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</a:rPr>
                        <a:t>RIGHT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</a:rPr>
                        <a:t>G</a:t>
                      </a:r>
                    </a:p>
                  </a:txBody>
                  <a:tcPr anchor="ctr" marL="73152" marR="73152">
                    <a:solidFill>
                      <a:srgbClr val="DDF3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</a:rPr>
                        <a:t>0.8</a:t>
                      </a:r>
                    </a:p>
                  </a:txBody>
                  <a:tcPr anchor="ctr" marL="73152" marR="73152">
                    <a:solidFill>
                      <a:srgbClr val="DDF3E4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</a:rPr>
                        <a:t>RIGHT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</a:rPr>
                        <a:t>0.1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</a:rPr>
                        <a:t>RIGHT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</a:rPr>
                        <a:t>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</a:rPr>
                        <a:t>0.1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Rounded Rectangle 17"/>
          <p:cNvSpPr/>
          <p:nvPr/>
        </p:nvSpPr>
        <p:spPr>
          <a:xfrm>
            <a:off x="8001000" y="4480560"/>
            <a:ext cx="3657600" cy="1600200"/>
          </a:xfrm>
          <a:prstGeom prst="roundRect">
            <a:avLst>
              <a:gd name="adj" fmla="val 8000"/>
            </a:avLst>
          </a:prstGeom>
          <a:solidFill>
            <a:srgbClr val="DDF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38160" y="4553712"/>
            <a:ext cx="338328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2937"/>
                </a:solidFill>
                <a:latin typeface="Calibri"/>
              </a:rPr>
              <a:t>Қалай шықты?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4949952"/>
            <a:ext cx="3383280" cy="960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0.8: оңға → G (мақсат!).
0.1: жоғары — тор шеті → C-де қалады.
0.1: төмен → 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126480"/>
            <a:ext cx="109728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6B7280"/>
                </a:solidFill>
                <a:latin typeface="Calibri"/>
              </a:rPr>
              <a:t>Әр кестеде: 0.8 + 0.1 + 0.1 = 1.0 ✔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F2937"/>
                </a:solidFill>
                <a:latin typeface="Calibri"/>
              </a:rPr>
              <a:t>3-тапсырма — Дисконттау коэффициенті γ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14400"/>
            <a:ext cx="1097280" cy="54864"/>
          </a:xfrm>
          <a:prstGeom prst="rect">
            <a:avLst/>
          </a:prstGeom>
          <a:solidFill>
            <a:srgbClr val="D4A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6B7280"/>
                </a:solidFill>
                <a:latin typeface="Calibri"/>
              </a:rPr>
              <a:t>Мысал: бүгін берілген 10 теңге ертеңгі 10 теңгеден құнды. Біз күтуге «жеңілдік» береміз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64008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E6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83080"/>
            <a:ext cx="1069848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2600" b="1">
                <a:solidFill>
                  <a:srgbClr val="1F2937"/>
                </a:solidFill>
                <a:latin typeface="Calibri"/>
              </a:rPr>
              <a:t>U = r₀ + γ·r₁ + γ²·r₂ + γ³·r₃ + 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880360"/>
            <a:ext cx="5440680" cy="2103120"/>
          </a:xfrm>
          <a:prstGeom prst="roundRect">
            <a:avLst>
              <a:gd name="adj" fmla="val 8000"/>
            </a:avLst>
          </a:prstGeom>
          <a:solidFill>
            <a:srgbClr val="FFF3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953512"/>
            <a:ext cx="516636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2937"/>
                </a:solidFill>
                <a:latin typeface="Calibri"/>
              </a:rPr>
              <a:t>γ 0-ге жақын (мысалы 0.2)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387852"/>
            <a:ext cx="5166360" cy="1463039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1F2937"/>
                </a:solidFill>
                <a:latin typeface="Calibri"/>
              </a:rPr>
              <a:t>Робот «ақылсыз асығыс»: тек жақын марапатты көреді. Алыстағы үлкен сыйлық оған маңызды емес.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2880360"/>
            <a:ext cx="5440680" cy="2103120"/>
          </a:xfrm>
          <a:prstGeom prst="roundRect">
            <a:avLst>
              <a:gd name="adj" fmla="val 8000"/>
            </a:avLst>
          </a:prstGeom>
          <a:solidFill>
            <a:srgbClr val="DDF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2953512"/>
            <a:ext cx="516636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2937"/>
                </a:solidFill>
                <a:latin typeface="Calibri"/>
              </a:rPr>
              <a:t>γ 1-ге жақын (мысалы 0.9)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3387852"/>
            <a:ext cx="5166360" cy="1463039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1F2937"/>
                </a:solidFill>
                <a:latin typeface="Calibri"/>
              </a:rPr>
              <a:t>Робот «сабырлы»: болашақ марапатты да бағалайды, сондықтан алыс мақсатқа бару үшін шыдайды.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257800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6B7280"/>
                </a:solidFill>
                <a:latin typeface="Calibri"/>
              </a:rPr>
              <a:t>Әр келесі қадамның марапаты γ-ға көбейтіліп, кішірейе береді: 1-қадам × γ, 2-қадам × γ², 3-қадам × γ³ …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F2937"/>
                </a:solidFill>
                <a:latin typeface="Calibri"/>
              </a:rPr>
              <a:t>3-тапсырма — Дисконттау есептеулері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14400"/>
            <a:ext cx="1097280" cy="54864"/>
          </a:xfrm>
          <a:prstGeom prst="rect">
            <a:avLst/>
          </a:prstGeom>
          <a:solidFill>
            <a:srgbClr val="D4A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6B7280"/>
                </a:solidFill>
                <a:latin typeface="Calibri"/>
              </a:rPr>
              <a:t>U = r₀ + γ·r₁ + γ²·r₂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64008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10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91640"/>
          <a:ext cx="11064240" cy="27432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194560"/>
                <a:gridCol w="914400"/>
                <a:gridCol w="5669280"/>
                <a:gridCol w="2286000"/>
              </a:tblGrid>
              <a:tr h="685800"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1F2937"/>
                          </a:solidFill>
                          <a:latin typeface="Calibri"/>
                        </a:rPr>
                        <a:t>Марапаттар</a:t>
                      </a:r>
                    </a:p>
                  </a:txBody>
                  <a:tcPr anchor="ctr" marL="73152" marR="73152">
                    <a:solidFill>
                      <a:srgbClr val="E6EF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1F2937"/>
                          </a:solidFill>
                          <a:latin typeface="Calibri"/>
                        </a:rPr>
                        <a:t>γ</a:t>
                      </a:r>
                    </a:p>
                  </a:txBody>
                  <a:tcPr anchor="ctr" marL="73152" marR="73152">
                    <a:solidFill>
                      <a:srgbClr val="E6EF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1F2937"/>
                          </a:solidFill>
                          <a:latin typeface="Calibri"/>
                        </a:rPr>
                        <a:t>Есептеу</a:t>
                      </a:r>
                    </a:p>
                  </a:txBody>
                  <a:tcPr anchor="ctr" marL="73152" marR="73152">
                    <a:solidFill>
                      <a:srgbClr val="E6EF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1F2937"/>
                          </a:solidFill>
                          <a:latin typeface="Calibri"/>
                        </a:rPr>
                        <a:t>Пайдалылық U</a:t>
                      </a:r>
                    </a:p>
                  </a:txBody>
                  <a:tcPr anchor="ctr" marL="73152" marR="73152">
                    <a:solidFill>
                      <a:srgbClr val="E6EFFA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1F2937"/>
                          </a:solidFill>
                          <a:latin typeface="Calibri"/>
                        </a:rPr>
                        <a:t>[2, 4, 6]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1F2937"/>
                          </a:solidFill>
                          <a:latin typeface="Calibri"/>
                        </a:rPr>
                        <a:t>0.5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1F2937"/>
                          </a:solidFill>
                          <a:latin typeface="Calibri"/>
                        </a:rPr>
                        <a:t>2 + 0.5·4 + 0.5²·6 = 2 + 2 + 1.5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1F2937"/>
                          </a:solidFill>
                          <a:latin typeface="Calibri"/>
                        </a:rPr>
                        <a:t>5.5</a:t>
                      </a:r>
                    </a:p>
                  </a:txBody>
                  <a:tcPr anchor="ctr" marL="73152" marR="73152">
                    <a:solidFill>
                      <a:srgbClr val="DDF3E4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1F2937"/>
                          </a:solidFill>
                          <a:latin typeface="Calibri"/>
                        </a:rPr>
                        <a:t>[2, 4, 6]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1F2937"/>
                          </a:solidFill>
                          <a:latin typeface="Calibri"/>
                        </a:rPr>
                        <a:t>0.9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1F2937"/>
                          </a:solidFill>
                          <a:latin typeface="Calibri"/>
                        </a:rPr>
                        <a:t>2 + 0.9·4 + 0.9²·6 = 2 + 3.6 + 4.86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1F2937"/>
                          </a:solidFill>
                          <a:latin typeface="Calibri"/>
                        </a:rPr>
                        <a:t>10.46</a:t>
                      </a:r>
                    </a:p>
                  </a:txBody>
                  <a:tcPr anchor="ctr" marL="73152" marR="73152">
                    <a:solidFill>
                      <a:srgbClr val="DDF3E4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1F2937"/>
                          </a:solidFill>
                          <a:latin typeface="Calibri"/>
                        </a:rPr>
                        <a:t>[0, 0, 10]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1F2937"/>
                          </a:solidFill>
                          <a:latin typeface="Calibri"/>
                        </a:rPr>
                        <a:t>0.5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1F2937"/>
                          </a:solidFill>
                          <a:latin typeface="Calibri"/>
                        </a:rPr>
                        <a:t>0 + 0.5·0 + 0.5²·10 = 0 + 0 + 2.5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1F2937"/>
                          </a:solidFill>
                          <a:latin typeface="Calibri"/>
                        </a:rPr>
                        <a:t>2.5</a:t>
                      </a:r>
                    </a:p>
                  </a:txBody>
                  <a:tcPr anchor="ctr" marL="73152" marR="73152">
                    <a:solidFill>
                      <a:srgbClr val="DDF3E4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48640" y="4663440"/>
            <a:ext cx="5440680" cy="1463040"/>
          </a:xfrm>
          <a:prstGeom prst="roundRect">
            <a:avLst>
              <a:gd name="adj" fmla="val 8000"/>
            </a:avLst>
          </a:prstGeom>
          <a:solidFill>
            <a:srgbClr val="FFF3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4736592"/>
            <a:ext cx="516636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2937"/>
                </a:solidFill>
                <a:latin typeface="Calibri"/>
              </a:rPr>
              <a:t>Қорытынды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5132831"/>
            <a:ext cx="51663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F2937"/>
                </a:solidFill>
                <a:latin typeface="Calibri"/>
              </a:rPr>
              <a:t>Бірдей [2, 4, 6] тізбегі γ=0.9 болғанда 10.46, ал γ=0.5 болғанда тек 5.5. γ үлкен болса — болашақ құнды.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4663440"/>
            <a:ext cx="5440680" cy="1463040"/>
          </a:xfrm>
          <a:prstGeom prst="roundRect">
            <a:avLst>
              <a:gd name="adj" fmla="val 8000"/>
            </a:avLst>
          </a:prstGeom>
          <a:solidFill>
            <a:srgbClr val="E6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4736592"/>
            <a:ext cx="516636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2937"/>
                </a:solidFill>
                <a:latin typeface="Calibri"/>
              </a:rPr>
              <a:t>Қорытынды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5132831"/>
            <a:ext cx="51663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F2937"/>
                </a:solidFill>
                <a:latin typeface="Calibri"/>
              </a:rPr>
              <a:t>[0, 0, 10]: 10 ұпай ең соңында келгендіктен, γ=0.5 кезінде ол тек 2.5 болып қалды (10 × 0.25).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F2937"/>
                </a:solidFill>
                <a:latin typeface="Calibri"/>
              </a:rPr>
              <a:t>4-тапсырма — Q(s, a) және V(s)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14400"/>
            <a:ext cx="1097280" cy="54864"/>
          </a:xfrm>
          <a:prstGeom prst="rect">
            <a:avLst/>
          </a:prstGeom>
          <a:solidFill>
            <a:srgbClr val="D4A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6B7280"/>
                </a:solidFill>
                <a:latin typeface="Calibri"/>
              </a:rPr>
              <a:t>Мысал: үйден мектепке баратын 4 жол бар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64008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5440680" cy="2011680"/>
          </a:xfrm>
          <a:prstGeom prst="roundRect">
            <a:avLst>
              <a:gd name="adj" fmla="val 8000"/>
            </a:avLst>
          </a:prstGeom>
          <a:solidFill>
            <a:srgbClr val="E6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810512"/>
            <a:ext cx="516636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2937"/>
                </a:solidFill>
                <a:latin typeface="Calibri"/>
              </a:rPr>
              <a:t>Q(s, a) — нақты бір жолдың бағасы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244852"/>
            <a:ext cx="5166360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1F2937"/>
                </a:solidFill>
                <a:latin typeface="Calibri"/>
              </a:rPr>
              <a:t>«Осы күйде осы әрекетті жасасам, ұпайым қанша болады?» Әр жолдың (әрекеттің) өз Q-мәні бар.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737360"/>
            <a:ext cx="5440680" cy="2011680"/>
          </a:xfrm>
          <a:prstGeom prst="roundRect">
            <a:avLst>
              <a:gd name="adj" fmla="val 8000"/>
            </a:avLst>
          </a:prstGeom>
          <a:solidFill>
            <a:srgbClr val="DDF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810512"/>
            <a:ext cx="516636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2937"/>
                </a:solidFill>
                <a:latin typeface="Calibri"/>
              </a:rPr>
              <a:t>V(s) — ең жақсы жолдың бағасы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244852"/>
            <a:ext cx="5166360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1F2937"/>
                </a:solidFill>
                <a:latin typeface="Calibri"/>
              </a:rPr>
              <a:t>V(s) = ең үлкен Q. Төрт жолдың ішінен ең жақсысын таңдаймыз.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977639"/>
            <a:ext cx="1106424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D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023360"/>
            <a:ext cx="10698480" cy="14630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1F2937"/>
                </a:solidFill>
                <a:latin typeface="Calibri"/>
              </a:rPr>
              <a:t>Q(s,a) = Σ T(s,a,s′) · [ R + γ·V(s′) ]</a:t>
            </a:r>
          </a:p>
          <a:p>
            <a:pPr algn="ctr">
              <a:spcAft>
                <a:spcPts val="400"/>
              </a:spcAft>
            </a:pPr>
            <a:r>
              <a:rPr sz="2400" b="1">
                <a:solidFill>
                  <a:srgbClr val="1F2937"/>
                </a:solidFill>
                <a:latin typeface="Calibri"/>
              </a:rPr>
              <a:t>V(s) = maxₐ Q(s,a)</a:t>
            </a:r>
          </a:p>
          <a:p>
            <a:pPr algn="ctr">
              <a:spcAft>
                <a:spcPts val="400"/>
              </a:spcAft>
            </a:pPr>
            <a:r>
              <a:rPr sz="1500" b="0">
                <a:solidFill>
                  <a:srgbClr val="6B7280"/>
                </a:solidFill>
                <a:latin typeface="Calibri"/>
              </a:rPr>
              <a:t>Сөзбен: әр мүмкін нәтиже үшін  ықтималдық × (бірден алынатын ұпай + келесі күйдің дисконтталған мәні)  есептеп, бәрін қосамыз.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F2937"/>
                </a:solidFill>
                <a:latin typeface="Calibri"/>
              </a:rPr>
              <a:t>4-тапсырма — Толық Q-мәнін есептеу: Q(H, UP)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14400"/>
            <a:ext cx="1097280" cy="54864"/>
          </a:xfrm>
          <a:prstGeom prst="rect">
            <a:avLst/>
          </a:prstGeom>
          <a:solidFill>
            <a:srgbClr val="D4A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6B7280"/>
                </a:solidFill>
                <a:latin typeface="Calibri"/>
              </a:rPr>
              <a:t>H күйінде UP таңдайды. Берілгені: γ = 0.9, V(E)=5, V(F)=2, V(I)=1, қадам марапаты −0.1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64008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12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74519"/>
            <a:ext cx="8686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874519"/>
            <a:ext cx="868680" cy="8686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1F2937"/>
                </a:solidFill>
                <a:latin typeface="Calibri"/>
              </a:rPr>
              <a:t>A</a:t>
            </a:r>
          </a:p>
        </p:txBody>
      </p:sp>
      <p:sp>
        <p:nvSpPr>
          <p:cNvPr id="8" name="Rectangle 7"/>
          <p:cNvSpPr/>
          <p:nvPr/>
        </p:nvSpPr>
        <p:spPr>
          <a:xfrm>
            <a:off x="1508760" y="1874519"/>
            <a:ext cx="8686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08760" y="1874519"/>
            <a:ext cx="868680" cy="8686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1F2937"/>
                </a:solidFill>
                <a:latin typeface="Calibri"/>
              </a:rPr>
              <a:t>B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77439" y="1874519"/>
            <a:ext cx="8686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77439" y="1874519"/>
            <a:ext cx="868680" cy="8686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1F2937"/>
                </a:solidFill>
                <a:latin typeface="Calibri"/>
              </a:rPr>
              <a:t>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46120" y="1874519"/>
            <a:ext cx="868680" cy="868680"/>
          </a:xfrm>
          <a:prstGeom prst="rect">
            <a:avLst/>
          </a:prstGeom>
          <a:solidFill>
            <a:srgbClr val="DDF3E4"/>
          </a:solidFill>
          <a:ln w="12700">
            <a:solidFill>
              <a:srgbClr val="C9D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46120" y="1874519"/>
            <a:ext cx="868680" cy="8686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1F2937"/>
                </a:solidFill>
                <a:latin typeface="Calibri"/>
              </a:rPr>
              <a:t>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743200"/>
            <a:ext cx="8686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743200"/>
            <a:ext cx="868680" cy="8686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1F2937"/>
                </a:solidFill>
                <a:latin typeface="Calibri"/>
              </a:rPr>
              <a:t>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508760" y="2743200"/>
            <a:ext cx="868680" cy="868680"/>
          </a:xfrm>
          <a:prstGeom prst="rect">
            <a:avLst/>
          </a:prstGeom>
          <a:solidFill>
            <a:srgbClr val="DADDE2"/>
          </a:solidFill>
          <a:ln w="12700">
            <a:solidFill>
              <a:srgbClr val="C9D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508760" y="2743200"/>
            <a:ext cx="868680" cy="8686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1F2937"/>
                </a:solidFill>
                <a:latin typeface="Calibri"/>
              </a:rPr>
              <a:t>#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77439" y="2743200"/>
            <a:ext cx="868680" cy="868680"/>
          </a:xfrm>
          <a:prstGeom prst="rect">
            <a:avLst/>
          </a:prstGeom>
          <a:solidFill>
            <a:srgbClr val="DDF3E4"/>
          </a:solidFill>
          <a:ln w="12700">
            <a:solidFill>
              <a:srgbClr val="C9D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377439" y="2743200"/>
            <a:ext cx="868680" cy="8686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1F2937"/>
                </a:solidFill>
                <a:latin typeface="Calibri"/>
              </a:rPr>
              <a:t>E</a:t>
            </a:r>
          </a:p>
          <a:p>
            <a:pPr algn="ctr">
              <a:spcAft>
                <a:spcPts val="0"/>
              </a:spcAft>
            </a:pPr>
            <a:r>
              <a:rPr sz="1400" b="0">
                <a:solidFill>
                  <a:srgbClr val="6B7280"/>
                </a:solidFill>
                <a:latin typeface="Calibri"/>
              </a:rPr>
              <a:t>V=5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46120" y="2743200"/>
            <a:ext cx="868680" cy="868680"/>
          </a:xfrm>
          <a:prstGeom prst="rect">
            <a:avLst/>
          </a:prstGeom>
          <a:solidFill>
            <a:srgbClr val="FBE1E1"/>
          </a:solidFill>
          <a:ln w="12700">
            <a:solidFill>
              <a:srgbClr val="C9D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46120" y="2743200"/>
            <a:ext cx="868680" cy="8686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1F2937"/>
                </a:solidFill>
                <a:latin typeface="Calibri"/>
              </a:rPr>
              <a:t>X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3611879"/>
            <a:ext cx="868680" cy="868680"/>
          </a:xfrm>
          <a:prstGeom prst="rect">
            <a:avLst/>
          </a:prstGeom>
          <a:solidFill>
            <a:srgbClr val="FFF3D3"/>
          </a:solidFill>
          <a:ln w="12700">
            <a:solidFill>
              <a:srgbClr val="C9D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611879"/>
            <a:ext cx="868680" cy="8686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1F2937"/>
                </a:solidFill>
                <a:latin typeface="Calibri"/>
              </a:rPr>
              <a:t>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508760" y="3611879"/>
            <a:ext cx="868680" cy="868680"/>
          </a:xfrm>
          <a:prstGeom prst="rect">
            <a:avLst/>
          </a:prstGeom>
          <a:solidFill>
            <a:srgbClr val="FFF3D3"/>
          </a:solidFill>
          <a:ln w="12700">
            <a:solidFill>
              <a:srgbClr val="C9D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508760" y="3611879"/>
            <a:ext cx="868680" cy="8686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1F2937"/>
                </a:solidFill>
                <a:latin typeface="Calibri"/>
              </a:rPr>
              <a:t>F</a:t>
            </a:r>
          </a:p>
          <a:p>
            <a:pPr algn="ctr">
              <a:spcAft>
                <a:spcPts val="0"/>
              </a:spcAft>
            </a:pPr>
            <a:r>
              <a:rPr sz="1400" b="0">
                <a:solidFill>
                  <a:srgbClr val="6B7280"/>
                </a:solidFill>
                <a:latin typeface="Calibri"/>
              </a:rPr>
              <a:t>V=2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377439" y="3611879"/>
            <a:ext cx="868680" cy="868680"/>
          </a:xfrm>
          <a:prstGeom prst="rect">
            <a:avLst/>
          </a:prstGeom>
          <a:solidFill>
            <a:srgbClr val="E6EFFA"/>
          </a:solidFill>
          <a:ln w="12700">
            <a:solidFill>
              <a:srgbClr val="C9D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377439" y="3611879"/>
            <a:ext cx="868680" cy="8686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1F2937"/>
                </a:solidFill>
                <a:latin typeface="Calibri"/>
              </a:rPr>
              <a:t>H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46120" y="3611879"/>
            <a:ext cx="868680" cy="868680"/>
          </a:xfrm>
          <a:prstGeom prst="rect">
            <a:avLst/>
          </a:prstGeom>
          <a:solidFill>
            <a:srgbClr val="FFF3D3"/>
          </a:solidFill>
          <a:ln w="12700">
            <a:solidFill>
              <a:srgbClr val="C9D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46120" y="3611879"/>
            <a:ext cx="868680" cy="8686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1F2937"/>
                </a:solidFill>
                <a:latin typeface="Calibri"/>
              </a:rPr>
              <a:t>I</a:t>
            </a:r>
          </a:p>
          <a:p>
            <a:pPr algn="ctr">
              <a:spcAft>
                <a:spcPts val="0"/>
              </a:spcAft>
            </a:pPr>
            <a:r>
              <a:rPr sz="1400" b="0">
                <a:solidFill>
                  <a:srgbClr val="6B7280"/>
                </a:solidFill>
                <a:latin typeface="Calibri"/>
              </a:rPr>
              <a:t>V=1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4572000"/>
            <a:ext cx="356616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Calibri"/>
              </a:rPr>
              <a:t>H-тан UP: 0.8 → E,  0.1 → F (солға),  0.1 → I (оңға)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0" y="1783080"/>
            <a:ext cx="7040880" cy="4206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D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54880" y="1828800"/>
            <a:ext cx="6675120" cy="4114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900"/>
              </a:spcAft>
            </a:pPr>
            <a:r>
              <a:rPr sz="1700" b="1">
                <a:solidFill>
                  <a:srgbClr val="1F2937"/>
                </a:solidFill>
                <a:latin typeface="Calibri"/>
              </a:rPr>
              <a:t>Q(H,UP) = 0.8·[−0.1 + 0.9·5] + 0.1·[−0.1 + 0.9·2] + 0.1·[−0.1 + 0.9·1]</a:t>
            </a:r>
          </a:p>
          <a:p>
            <a:pPr algn="l">
              <a:spcAft>
                <a:spcPts val="900"/>
              </a:spcAft>
            </a:pPr>
            <a:r>
              <a:rPr sz="1900" b="0">
                <a:solidFill>
                  <a:srgbClr val="1F2937"/>
                </a:solidFill>
                <a:latin typeface="Calibri"/>
              </a:rPr>
              <a:t>1) E:  0.8 × 4.4 = 3.52</a:t>
            </a:r>
          </a:p>
          <a:p>
            <a:pPr algn="l">
              <a:spcAft>
                <a:spcPts val="900"/>
              </a:spcAft>
            </a:pPr>
            <a:r>
              <a:rPr sz="1900" b="0">
                <a:solidFill>
                  <a:srgbClr val="1F2937"/>
                </a:solidFill>
                <a:latin typeface="Calibri"/>
              </a:rPr>
              <a:t>2) F:  0.1 × 1.7 = 0.17</a:t>
            </a:r>
          </a:p>
          <a:p>
            <a:pPr algn="l">
              <a:spcAft>
                <a:spcPts val="900"/>
              </a:spcAft>
            </a:pPr>
            <a:r>
              <a:rPr sz="1900" b="0">
                <a:solidFill>
                  <a:srgbClr val="1F2937"/>
                </a:solidFill>
                <a:latin typeface="Calibri"/>
              </a:rPr>
              <a:t>3) I:  0.1 × 0.8 = 0.08</a:t>
            </a:r>
          </a:p>
          <a:p>
            <a:pPr algn="l">
              <a:spcAft>
                <a:spcPts val="900"/>
              </a:spcAft>
            </a:pPr>
            <a:r>
              <a:rPr sz="2400" b="1">
                <a:solidFill>
                  <a:srgbClr val="1F6F3F"/>
                </a:solidFill>
                <a:latin typeface="Calibri"/>
              </a:rPr>
              <a:t>Q(H,UP) = 3.52 + 0.17 + 0.08 = 3.77</a:t>
            </a:r>
          </a:p>
          <a:p>
            <a:pPr algn="l">
              <a:spcAft>
                <a:spcPts val="900"/>
              </a:spcAft>
            </a:pPr>
            <a:r>
              <a:rPr sz="1600" b="0">
                <a:solidFill>
                  <a:srgbClr val="1F2937"/>
                </a:solidFill>
                <a:latin typeface="Calibri"/>
              </a:rPr>
              <a:t>Басқа әрекеттер: Q(H,DOWN)=2.4, Q(H,LEFT)=2.1, Q(H,RIGHT)=1.8</a:t>
            </a:r>
          </a:p>
          <a:p>
            <a:pPr algn="l">
              <a:spcAft>
                <a:spcPts val="900"/>
              </a:spcAft>
            </a:pPr>
            <a:r>
              <a:rPr sz="1900" b="1">
                <a:solidFill>
                  <a:srgbClr val="1F2937"/>
                </a:solidFill>
                <a:latin typeface="Calibri"/>
              </a:rPr>
              <a:t>V(H) = max(3.77; 2.4; 2.1; 1.8) = 3.77  →  π(H) = UP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F2937"/>
                </a:solidFill>
                <a:latin typeface="Calibri"/>
              </a:rPr>
              <a:t>5-тапсырма — Мәндер итерациясы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14400"/>
            <a:ext cx="1097280" cy="54864"/>
          </a:xfrm>
          <a:prstGeom prst="rect">
            <a:avLst/>
          </a:prstGeom>
          <a:solidFill>
            <a:srgbClr val="D4A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6B7280"/>
                </a:solidFill>
                <a:latin typeface="Calibri"/>
              </a:rPr>
              <a:t>Мысал: тынық суға тас тастасаңыз, толқын орталықтан шетке қарай таралады. Мұнда G-ның «жақсылығы» тарайды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64008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2633472" cy="2103120"/>
          </a:xfrm>
          <a:prstGeom prst="roundRect">
            <a:avLst>
              <a:gd name="adj" fmla="val 8000"/>
            </a:avLst>
          </a:prstGeom>
          <a:solidFill>
            <a:srgbClr val="E6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856231"/>
            <a:ext cx="2359152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2937"/>
                </a:solidFill>
                <a:latin typeface="Calibri"/>
              </a:rPr>
              <a:t>1. V₀ = 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290572"/>
            <a:ext cx="2359152" cy="1463039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F2937"/>
                </a:solidFill>
                <a:latin typeface="Calibri"/>
              </a:rPr>
              <a:t>Барлық күйдің мәнін нөлден бастаймыз.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46704" y="1783080"/>
            <a:ext cx="2633472" cy="2103120"/>
          </a:xfrm>
          <a:prstGeom prst="roundRect">
            <a:avLst>
              <a:gd name="adj" fmla="val 8000"/>
            </a:avLst>
          </a:prstGeom>
          <a:solidFill>
            <a:srgbClr val="FFF3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83864" y="1856231"/>
            <a:ext cx="2359152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2937"/>
                </a:solidFill>
                <a:latin typeface="Calibri"/>
              </a:rPr>
              <a:t>2. Q есептеу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83864" y="2290572"/>
            <a:ext cx="2359152" cy="1463039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F2937"/>
                </a:solidFill>
                <a:latin typeface="Calibri"/>
              </a:rPr>
              <a:t>Әр күй мен әр әрекет үшін Q-ды ЕСКІ V бойынша есептейміз.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44768" y="1783080"/>
            <a:ext cx="2633472" cy="2103120"/>
          </a:xfrm>
          <a:prstGeom prst="roundRect">
            <a:avLst>
              <a:gd name="adj" fmla="val 8000"/>
            </a:avLst>
          </a:prstGeom>
          <a:solidFill>
            <a:srgbClr val="DDF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81928" y="1856231"/>
            <a:ext cx="2359152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2937"/>
                </a:solidFill>
                <a:latin typeface="Calibri"/>
              </a:rPr>
              <a:t>3. Максимум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81928" y="2290572"/>
            <a:ext cx="2359152" cy="1463039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F2937"/>
                </a:solidFill>
                <a:latin typeface="Calibri"/>
              </a:rPr>
              <a:t>Ең үлкен Q-ды аламыз — бұл жаңа V.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42832" y="1783080"/>
            <a:ext cx="2633472" cy="2103120"/>
          </a:xfrm>
          <a:prstGeom prst="roundRect">
            <a:avLst>
              <a:gd name="adj" fmla="val 8000"/>
            </a:avLst>
          </a:prstGeom>
          <a:solidFill>
            <a:srgbClr val="FBE1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79992" y="1856231"/>
            <a:ext cx="2359152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2937"/>
                </a:solidFill>
                <a:latin typeface="Calibri"/>
              </a:rPr>
              <a:t>4. Қайталау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2290572"/>
            <a:ext cx="2359152" cy="1463039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F2937"/>
                </a:solidFill>
                <a:latin typeface="Calibri"/>
              </a:rPr>
              <a:t>Мәндер аз өзгергенше (&lt; 0.001) қайталаймыз.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114800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1F2937"/>
                </a:solidFill>
                <a:latin typeface="Calibri"/>
              </a:rPr>
              <a:t>Vₖ₊₁(s) = maxₐ Σ T(s,a,s′)·[ R + γ·Vₖ(s′) ]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754880"/>
            <a:ext cx="11064240" cy="1234440"/>
          </a:xfrm>
          <a:prstGeom prst="roundRect">
            <a:avLst>
              <a:gd name="adj" fmla="val 8000"/>
            </a:avLst>
          </a:prstGeom>
          <a:solidFill>
            <a:srgbClr val="FFF3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4828032"/>
            <a:ext cx="10789919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F2937"/>
                </a:solidFill>
                <a:latin typeface="Calibri"/>
              </a:rPr>
              <a:t>Өте маңызды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5243322"/>
            <a:ext cx="10789919" cy="594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F2937"/>
                </a:solidFill>
                <a:latin typeface="Calibri"/>
              </a:rPr>
              <a:t>Vₖ₊₁ есептегенде тек ескі Vₖ мәндерін қолданамыз. Жаңа есептелген мәнді сол қадамның ішінде араластырмаймыз — алдымен бүкіл жаңа кестені толық есептейміз.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F2937"/>
                </a:solidFill>
                <a:latin typeface="Calibri"/>
              </a:rPr>
              <a:t>5-тапсырма — V₁ есептеу (γ = 0.9, барлығы V₀ = 0)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14400"/>
            <a:ext cx="1097280" cy="54864"/>
          </a:xfrm>
          <a:prstGeom prst="rect">
            <a:avLst/>
          </a:prstGeom>
          <a:solidFill>
            <a:srgbClr val="D4A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6B7280"/>
                </a:solidFill>
                <a:latin typeface="Calibri"/>
              </a:rPr>
              <a:t>V₁(s) = ең жақсы әрекеттің Q-ы. Терминал G және X мәні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64008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5440680" cy="2011680"/>
          </a:xfrm>
          <a:prstGeom prst="roundRect">
            <a:avLst>
              <a:gd name="adj" fmla="val 8000"/>
            </a:avLst>
          </a:prstGeom>
          <a:solidFill>
            <a:srgbClr val="DDF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810512"/>
            <a:ext cx="516636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2937"/>
                </a:solidFill>
                <a:latin typeface="Calibri"/>
              </a:rPr>
              <a:t>C күйі: V₁(C) = 7.98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263902"/>
            <a:ext cx="5166360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F2937"/>
                </a:solidFill>
                <a:latin typeface="Calibri"/>
              </a:rPr>
              <a:t>RIGHT: 0.8 → G (+10), 0.1 → C (−0.1), 0.1 → E (−0.1)
Q = 0.8·10 + 0.1·(−0.1) + 0.1·(−0.1)
= 8 − 0.01 − 0.01 = 7.98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737360"/>
            <a:ext cx="5440680" cy="2011680"/>
          </a:xfrm>
          <a:prstGeom prst="roundRect">
            <a:avLst>
              <a:gd name="adj" fmla="val 8000"/>
            </a:avLst>
          </a:prstGeom>
          <a:solidFill>
            <a:srgbClr val="E6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810512"/>
            <a:ext cx="516636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2937"/>
                </a:solidFill>
                <a:latin typeface="Calibri"/>
              </a:rPr>
              <a:t>E күйі: V₁(E) = −0.1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263902"/>
            <a:ext cx="5166360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F2937"/>
                </a:solidFill>
                <a:latin typeface="Calibri"/>
              </a:rPr>
              <a:t>LEFT таңдасақ (қабырға): нәтижелердің бәрі −0.1 (E, H, C-ға ауытқу).
Q = 0.8·(−0.1)+0.1·(−0.1)+0.1·(−0.1) = −0.1
RIGHT тәуекелді: 0.8 → X (−10) !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931920"/>
            <a:ext cx="5440680" cy="2011680"/>
          </a:xfrm>
          <a:prstGeom prst="roundRect">
            <a:avLst>
              <a:gd name="adj" fmla="val 8000"/>
            </a:avLst>
          </a:prstGeom>
          <a:solidFill>
            <a:srgbClr val="E6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4005072"/>
            <a:ext cx="516636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2937"/>
                </a:solidFill>
                <a:latin typeface="Calibri"/>
              </a:rPr>
              <a:t>H күйі: V₁(H) = −0.1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458461"/>
            <a:ext cx="5166360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F2937"/>
                </a:solidFill>
                <a:latin typeface="Calibri"/>
              </a:rPr>
              <a:t>UP: 0.8 → E, 0.1 → F, 0.1 → I — бәрінде −0.1.
Q = −0.1
Ешқандай бағыт әзірге мақсатқа жақындатпайды.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931920"/>
            <a:ext cx="5440680" cy="2011680"/>
          </a:xfrm>
          <a:prstGeom prst="roundRect">
            <a:avLst>
              <a:gd name="adj" fmla="val 8000"/>
            </a:avLst>
          </a:prstGeom>
          <a:solidFill>
            <a:srgbClr val="E6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4005072"/>
            <a:ext cx="516636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2937"/>
                </a:solidFill>
                <a:latin typeface="Calibri"/>
              </a:rPr>
              <a:t>I күйі: V₁(I) = −0.1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4458461"/>
            <a:ext cx="5166360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F2937"/>
                </a:solidFill>
                <a:latin typeface="Calibri"/>
              </a:rPr>
              <a:t>DOWN (шетке тірелу): бәрі −0.1.
Q = −0.1
UP қауіпті: 0.8 → X (−10).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F2937"/>
                </a:solidFill>
                <a:latin typeface="Calibri"/>
              </a:rPr>
              <a:t>5-тапсырма — V₂ есептеу (V₁ мәндерімен)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14400"/>
            <a:ext cx="1097280" cy="54864"/>
          </a:xfrm>
          <a:prstGeom prst="rect">
            <a:avLst/>
          </a:prstGeom>
          <a:solidFill>
            <a:srgbClr val="D4A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6B7280"/>
                </a:solidFill>
                <a:latin typeface="Calibri"/>
              </a:rPr>
              <a:t>V₁: C = 7.98,  E = −0.1,  H = −0.1,  I = −0.1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64008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5440680" cy="2148840"/>
          </a:xfrm>
          <a:prstGeom prst="roundRect">
            <a:avLst>
              <a:gd name="adj" fmla="val 8000"/>
            </a:avLst>
          </a:prstGeom>
          <a:solidFill>
            <a:srgbClr val="DDF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810512"/>
            <a:ext cx="516636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2937"/>
                </a:solidFill>
                <a:latin typeface="Calibri"/>
              </a:rPr>
              <a:t>C: V₂(C) = 8.6892 ≈ 8.69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263902"/>
            <a:ext cx="5166360" cy="1508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F2937"/>
                </a:solidFill>
                <a:latin typeface="Calibri"/>
              </a:rPr>
              <a:t>RIGHT: 0.8·10 + 0.1·(−0.1+0.9·7.98) + 0.1·(−0.1+0.9·(−0.1))
= 8 + 0.7082 − 0.019 = 8.6892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737360"/>
            <a:ext cx="5440680" cy="2148840"/>
          </a:xfrm>
          <a:prstGeom prst="roundRect">
            <a:avLst>
              <a:gd name="adj" fmla="val 8000"/>
            </a:avLst>
          </a:prstGeom>
          <a:solidFill>
            <a:srgbClr val="FFF3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810512"/>
            <a:ext cx="516636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2937"/>
                </a:solidFill>
                <a:latin typeface="Calibri"/>
              </a:rPr>
              <a:t>E: V₂(E) = 4.6466 ≈ 4.65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263902"/>
            <a:ext cx="5166360" cy="1508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F2937"/>
                </a:solidFill>
                <a:latin typeface="Calibri"/>
              </a:rPr>
              <a:t>UP: 0.8·(−0.1+0.9·7.98) + 0.1·(−0.1+0.9·(−0.1)) + 0.1·(−10)
= 5.6656 − 0.019 − 1 = 4.6466
(E жақсы бола бастады: жоғарыда C бар!)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069080"/>
            <a:ext cx="5440680" cy="1828800"/>
          </a:xfrm>
          <a:prstGeom prst="roundRect">
            <a:avLst>
              <a:gd name="adj" fmla="val 8000"/>
            </a:avLst>
          </a:prstGeom>
          <a:solidFill>
            <a:srgbClr val="E6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4142232"/>
            <a:ext cx="516636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2937"/>
                </a:solidFill>
                <a:latin typeface="Calibri"/>
              </a:rPr>
              <a:t>H: V₂(H) = −0.19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595622"/>
            <a:ext cx="5166360" cy="11887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F2937"/>
                </a:solidFill>
                <a:latin typeface="Calibri"/>
              </a:rPr>
              <a:t>UP: 0.8·(−0.1+0.9·(−0.1)) + 0.1·(−0.19) + 0.1·(−0.19) = −0.19
Жақсы хабар әлі H-қа жеткен жоқ.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4069080"/>
            <a:ext cx="5440680" cy="1828800"/>
          </a:xfrm>
          <a:prstGeom prst="roundRect">
            <a:avLst>
              <a:gd name="adj" fmla="val 8000"/>
            </a:avLst>
          </a:prstGeom>
          <a:solidFill>
            <a:srgbClr val="E6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4142232"/>
            <a:ext cx="516636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2937"/>
                </a:solidFill>
                <a:latin typeface="Calibri"/>
              </a:rPr>
              <a:t>I: V₂(I) = −0.19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4595622"/>
            <a:ext cx="5166360" cy="11887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F2937"/>
                </a:solidFill>
                <a:latin typeface="Calibri"/>
              </a:rPr>
              <a:t>DOWN: бәрінің V₁ = −0.1
→ −0.1 + 0.9·(−0.1) = −0.19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F2937"/>
                </a:solidFill>
                <a:latin typeface="Calibri"/>
              </a:rPr>
              <a:t>5-тапсырма — V₀, V₁, V₂ кестесі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14400"/>
            <a:ext cx="1097280" cy="54864"/>
          </a:xfrm>
          <a:prstGeom prst="rect">
            <a:avLst/>
          </a:prstGeom>
          <a:solidFill>
            <a:srgbClr val="D4A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6B7280"/>
                </a:solidFill>
                <a:latin typeface="Calibri"/>
              </a:rPr>
              <a:t>Мақсаттың жақсылығы G-дан C-ға, содан E-ге таралып жатыр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64008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16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783080"/>
          <a:ext cx="5486400" cy="32004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280160"/>
                <a:gridCol w="1280160"/>
                <a:gridCol w="1463040"/>
                <a:gridCol w="1463040"/>
              </a:tblGrid>
              <a:tr h="640080">
                <a:tc>
                  <a:txBody>
                    <a:bodyPr wrap="square"/>
                    <a:lstStyle/>
                    <a:p>
                      <a:pPr algn="ctr"/>
                      <a:r>
                        <a:rPr sz="2000" b="1">
                          <a:solidFill>
                            <a:srgbClr val="1F2937"/>
                          </a:solidFill>
                          <a:latin typeface="Calibri"/>
                        </a:rPr>
                        <a:t>Күй</a:t>
                      </a:r>
                    </a:p>
                  </a:txBody>
                  <a:tcPr anchor="ctr" marL="73152" marR="73152">
                    <a:solidFill>
                      <a:srgbClr val="E6EF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1">
                          <a:solidFill>
                            <a:srgbClr val="1F2937"/>
                          </a:solidFill>
                          <a:latin typeface="Calibri"/>
                        </a:rPr>
                        <a:t>V₀</a:t>
                      </a:r>
                    </a:p>
                  </a:txBody>
                  <a:tcPr anchor="ctr" marL="73152" marR="73152">
                    <a:solidFill>
                      <a:srgbClr val="E6EF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1">
                          <a:solidFill>
                            <a:srgbClr val="1F2937"/>
                          </a:solidFill>
                          <a:latin typeface="Calibri"/>
                        </a:rPr>
                        <a:t>V₁</a:t>
                      </a:r>
                    </a:p>
                  </a:txBody>
                  <a:tcPr anchor="ctr" marL="73152" marR="73152">
                    <a:solidFill>
                      <a:srgbClr val="E6EF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1">
                          <a:solidFill>
                            <a:srgbClr val="1F2937"/>
                          </a:solidFill>
                          <a:latin typeface="Calibri"/>
                        </a:rPr>
                        <a:t>V₂</a:t>
                      </a:r>
                    </a:p>
                  </a:txBody>
                  <a:tcPr anchor="ctr" marL="73152" marR="73152">
                    <a:solidFill>
                      <a:srgbClr val="E6EFFA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ctr"/>
                      <a:r>
                        <a:rPr sz="2000" b="1">
                          <a:solidFill>
                            <a:srgbClr val="1F2937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0">
                          <a:solidFill>
                            <a:srgbClr val="1F2937"/>
                          </a:solidFill>
                          <a:latin typeface="Calibri"/>
                        </a:rPr>
                        <a:t>7.98</a:t>
                      </a:r>
                    </a:p>
                  </a:txBody>
                  <a:tcPr anchor="ctr" marL="73152" marR="73152">
                    <a:solidFill>
                      <a:srgbClr val="DDF3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0">
                          <a:solidFill>
                            <a:srgbClr val="1F2937"/>
                          </a:solidFill>
                          <a:latin typeface="Calibri"/>
                        </a:rPr>
                        <a:t>8.69</a:t>
                      </a:r>
                    </a:p>
                  </a:txBody>
                  <a:tcPr anchor="ctr" marL="73152" marR="73152">
                    <a:solidFill>
                      <a:srgbClr val="DDF3E4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ctr"/>
                      <a:r>
                        <a:rPr sz="2000" b="1">
                          <a:solidFill>
                            <a:srgbClr val="1F2937"/>
                          </a:solidFill>
                          <a:latin typeface="Calibri"/>
                        </a:rPr>
                        <a:t>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0">
                          <a:solidFill>
                            <a:srgbClr val="1F2937"/>
                          </a:solidFill>
                          <a:latin typeface="Calibri"/>
                        </a:rPr>
                        <a:t>−0.10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0">
                          <a:solidFill>
                            <a:srgbClr val="1F2937"/>
                          </a:solidFill>
                          <a:latin typeface="Calibri"/>
                        </a:rPr>
                        <a:t>4.65</a:t>
                      </a:r>
                    </a:p>
                  </a:txBody>
                  <a:tcPr anchor="ctr" marL="73152" marR="73152">
                    <a:solidFill>
                      <a:srgbClr val="DDF3E4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ctr"/>
                      <a:r>
                        <a:rPr sz="2000" b="1">
                          <a:solidFill>
                            <a:srgbClr val="1F2937"/>
                          </a:solidFill>
                          <a:latin typeface="Calibri"/>
                        </a:rPr>
                        <a:t>H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0">
                          <a:solidFill>
                            <a:srgbClr val="1F2937"/>
                          </a:solidFill>
                          <a:latin typeface="Calibri"/>
                        </a:rPr>
                        <a:t>−0.10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0">
                          <a:solidFill>
                            <a:srgbClr val="1F2937"/>
                          </a:solidFill>
                          <a:latin typeface="Calibri"/>
                        </a:rPr>
                        <a:t>−0.19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ctr"/>
                      <a:r>
                        <a:rPr sz="2000" b="1">
                          <a:solidFill>
                            <a:srgbClr val="1F2937"/>
                          </a:solidFill>
                          <a:latin typeface="Calibri"/>
                        </a:rPr>
                        <a:t>I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0">
                          <a:solidFill>
                            <a:srgbClr val="1F2937"/>
                          </a:solidFill>
                          <a:latin typeface="Calibri"/>
                        </a:rPr>
                        <a:t>−0.10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0">
                          <a:solidFill>
                            <a:srgbClr val="1F2937"/>
                          </a:solidFill>
                          <a:latin typeface="Calibri"/>
                        </a:rPr>
                        <a:t>−0.19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309360" y="1783080"/>
            <a:ext cx="5303520" cy="1417320"/>
          </a:xfrm>
          <a:prstGeom prst="roundRect">
            <a:avLst>
              <a:gd name="adj" fmla="val 8000"/>
            </a:avLst>
          </a:prstGeom>
          <a:solidFill>
            <a:srgbClr val="DDF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856231"/>
            <a:ext cx="502920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F2937"/>
                </a:solidFill>
                <a:latin typeface="Calibri"/>
              </a:rPr>
              <a:t>Не байқаймыз?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2271522"/>
            <a:ext cx="5029200" cy="777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F2937"/>
                </a:solidFill>
                <a:latin typeface="Calibri"/>
              </a:rPr>
              <a:t>C G-ға жақын болғандықтан, мәні бірден өсті: 0 → 7.98 → 8.69.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3383280"/>
            <a:ext cx="5303520" cy="1417320"/>
          </a:xfrm>
          <a:prstGeom prst="roundRect">
            <a:avLst>
              <a:gd name="adj" fmla="val 8000"/>
            </a:avLst>
          </a:prstGeom>
          <a:solidFill>
            <a:srgbClr val="FFF3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3456432"/>
            <a:ext cx="502920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F2937"/>
                </a:solidFill>
                <a:latin typeface="Calibri"/>
              </a:rPr>
              <a:t>Тарау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3871722"/>
            <a:ext cx="5029200" cy="777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F2937"/>
                </a:solidFill>
                <a:latin typeface="Calibri"/>
              </a:rPr>
              <a:t>V₂ кезінде E-ге жетті (4.65). H пен I әлі күтуде — олар келесі қадамдарда өседі.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16636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E6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5239512"/>
            <a:ext cx="10789919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2937"/>
                </a:solidFill>
                <a:latin typeface="Calibri"/>
              </a:rPr>
              <a:t>Тоқтау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5635752"/>
            <a:ext cx="10789919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F2937"/>
                </a:solidFill>
                <a:latin typeface="Calibri"/>
              </a:rPr>
              <a:t>Бұл есепте мәндер 16 итерациядан кейін тұрақтанады (өзгеріс &lt; 0.001).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F2937"/>
                </a:solidFill>
                <a:latin typeface="Calibri"/>
              </a:rPr>
              <a:t>6-тапсырма — Python коды (1 бөлім: ереже)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14400"/>
            <a:ext cx="1097280" cy="54864"/>
          </a:xfrm>
          <a:prstGeom prst="rect">
            <a:avLst/>
          </a:prstGeom>
          <a:solidFill>
            <a:srgbClr val="D4A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6B7280"/>
                </a:solidFill>
                <a:latin typeface="Calibri"/>
              </a:rPr>
              <a:t>Робот әлемін сипаттаймыз және transitions(s, a) функциясын жазамыз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64008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7589520" cy="4754880"/>
          </a:xfrm>
          <a:prstGeom prst="roundRect">
            <a:avLst>
              <a:gd name="adj" fmla="val 3000"/>
            </a:avLst>
          </a:prstGeom>
          <a:solidFill>
            <a:srgbClr val="F4F5F7"/>
          </a:solidFill>
          <a:ln w="12700">
            <a:solidFill>
              <a:srgbClr val="C9D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91640"/>
            <a:ext cx="7315200" cy="45720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F2937"/>
                </a:solidFill>
                <a:latin typeface="Consolas"/>
              </a:rPr>
              <a:t>states = ["A","B","C","D","E","S","F","H","I"]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1F2937"/>
                </a:solidFill>
                <a:latin typeface="Consolas"/>
              </a:rPr>
              <a:t>actions = ["UP","DOWN","LEFT","RIGHT"]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1F2937"/>
                </a:solidFill>
                <a:latin typeface="Consolas"/>
              </a:rPr>
              <a:t>pos = {"A":(0,0),"B":(0,1),"C":(0,2),"G":(0,3),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1F2937"/>
                </a:solidFill>
                <a:latin typeface="Consolas"/>
              </a:rPr>
              <a:t>       "D":(1,0),"E":(1,2),"X":(1,3),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1F2937"/>
                </a:solidFill>
                <a:latin typeface="Consolas"/>
              </a:rPr>
              <a:t>       "S":(2,0),"F":(2,1),"H":(2,2),"I":(2,3)}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1F2937"/>
                </a:solidFill>
                <a:latin typeface="Consolas"/>
              </a:rPr>
              <a:t>name = {v: k for k, v in pos.items()}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1F2937"/>
                </a:solidFill>
                <a:latin typeface="Consolas"/>
              </a:rPr>
              <a:t>move = {"UP":(-1,0),"DOWN":(1,0),"LEFT":(0,-1),"RIGHT":(0,1)}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1F2937"/>
                </a:solidFill>
                <a:latin typeface="Consolas"/>
              </a:rPr>
              <a:t>sides = {"UP":("LEFT","RIGHT"), "DOWN":("RIGHT","LEFT"),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1F2937"/>
                </a:solidFill>
                <a:latin typeface="Consolas"/>
              </a:rPr>
              <a:t>         "LEFT":("DOWN","UP"),  "RIGHT":("UP","DOWN")}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1F2937"/>
                </a:solidFill>
                <a:latin typeface="Consolas"/>
              </a:rPr>
              <a:t>gamma, theta = 0.9, 0.001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1F2937"/>
                </a:solidFill>
                <a:latin typeface="Consolas"/>
              </a:rPr>
              <a:t> 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1F2937"/>
                </a:solidFill>
                <a:latin typeface="Consolas"/>
              </a:rPr>
              <a:t>def go(s, d):          # қабырғаға тірелсе - орнында қалады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1F2937"/>
                </a:solidFill>
                <a:latin typeface="Consolas"/>
              </a:rPr>
              <a:t>    r, c = pos[s]; dr, dc = move[d]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1F2937"/>
                </a:solidFill>
                <a:latin typeface="Consolas"/>
              </a:rPr>
              <a:t>    return name.get((r+dr, c+dc), s)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1F2937"/>
                </a:solidFill>
                <a:latin typeface="Consolas"/>
              </a:rPr>
              <a:t> 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1F2937"/>
                </a:solidFill>
                <a:latin typeface="Consolas"/>
              </a:rPr>
              <a:t>def reward(s2):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1F2937"/>
                </a:solidFill>
                <a:latin typeface="Consolas"/>
              </a:rPr>
              <a:t>    return 10 if s2 == "G" else -10 if s2 == "X" else -0.1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1F2937"/>
                </a:solidFill>
                <a:latin typeface="Consolas"/>
              </a:rPr>
              <a:t> 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1F2937"/>
                </a:solidFill>
                <a:latin typeface="Consolas"/>
              </a:rPr>
              <a:t>def transitions(s, a):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1F2937"/>
                </a:solidFill>
                <a:latin typeface="Consolas"/>
              </a:rPr>
              <a:t>    left, right = sides[a]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1F2937"/>
                </a:solidFill>
                <a:latin typeface="Consolas"/>
              </a:rPr>
              <a:t>    res = []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1F2937"/>
                </a:solidFill>
                <a:latin typeface="Consolas"/>
              </a:rPr>
              <a:t>    for p, d in [(0.8, a), (0.1, left), (0.1, right)]: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1F2937"/>
                </a:solidFill>
                <a:latin typeface="Consolas"/>
              </a:rPr>
              <a:t>        s2 = go(s, d)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1F2937"/>
                </a:solidFill>
                <a:latin typeface="Consolas"/>
              </a:rPr>
              <a:t>        res.append((p, s2, reward(s2)))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1F2937"/>
                </a:solidFill>
                <a:latin typeface="Consolas"/>
              </a:rPr>
              <a:t>    return 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21040" y="1600200"/>
            <a:ext cx="3291840" cy="4663440"/>
          </a:xfrm>
          <a:prstGeom prst="roundRect">
            <a:avLst>
              <a:gd name="adj" fmla="val 8000"/>
            </a:avLst>
          </a:prstGeom>
          <a:solidFill>
            <a:srgbClr val="E6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58200" y="1673352"/>
            <a:ext cx="301752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F2937"/>
                </a:solidFill>
                <a:latin typeface="Calibri"/>
              </a:rPr>
              <a:t>Қарапайым түсіндірме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58200" y="2088642"/>
            <a:ext cx="3017520" cy="4023359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pos — ұяшықтың қатары мен бағанасы.
go — бір қадам жасайды; қабырғаға немесе шетке тірелсе, орнында қалады.
transitions — үш нәтижені береді: 0.8 негізгі, 0.1 солға, 0.1 оңға ауытқу.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F2937"/>
                </a:solidFill>
                <a:latin typeface="Calibri"/>
              </a:rPr>
              <a:t>6-тапсырма — Python коды (2 бөлім: итерация және саясат)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14400"/>
            <a:ext cx="1097280" cy="54864"/>
          </a:xfrm>
          <a:prstGeom prst="rect">
            <a:avLst/>
          </a:prstGeom>
          <a:solidFill>
            <a:srgbClr val="D4A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6B7280"/>
                </a:solidFill>
                <a:latin typeface="Calibri"/>
              </a:rPr>
              <a:t>Мәндер итерациясын іске қосамыз, Q-мәндерін есептеп, саясатты шығарамыз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64008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7589520" cy="4663440"/>
          </a:xfrm>
          <a:prstGeom prst="roundRect">
            <a:avLst>
              <a:gd name="adj" fmla="val 3000"/>
            </a:avLst>
          </a:prstGeom>
          <a:solidFill>
            <a:srgbClr val="F4F5F7"/>
          </a:solidFill>
          <a:ln w="12700">
            <a:solidFill>
              <a:srgbClr val="C9D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91640"/>
            <a:ext cx="7315200" cy="4480559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onsolas"/>
              </a:rPr>
              <a:t>V = {s: 0.0 for s in states}          # V0 = 0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onsolas"/>
              </a:rPr>
              <a:t> 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onsolas"/>
              </a:rPr>
              <a:t>def q_value(s, a):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onsolas"/>
              </a:rPr>
              <a:t>    q = 0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onsolas"/>
              </a:rPr>
              <a:t>    for p, s2, r in transitions(s, a):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onsolas"/>
              </a:rPr>
              <a:t>        q += p * (r + gamma * V.get(s2, 0))   # G, X үшін V = 0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onsolas"/>
              </a:rPr>
              <a:t>    return q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onsolas"/>
              </a:rPr>
              <a:t> 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onsolas"/>
              </a:rPr>
              <a:t>while True: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onsolas"/>
              </a:rPr>
              <a:t>    delta = 0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onsolas"/>
              </a:rPr>
              <a:t>    new_V = V.copy()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onsolas"/>
              </a:rPr>
              <a:t>    for s in states: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onsolas"/>
              </a:rPr>
              <a:t>        new_V[s] = max(q_value(s, a) for a in actions)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onsolas"/>
              </a:rPr>
              <a:t>        delta = max(delta, abs(new_V[s] - V[s]))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onsolas"/>
              </a:rPr>
              <a:t>    V = new_V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onsolas"/>
              </a:rPr>
              <a:t>    if delta &lt; theta: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onsolas"/>
              </a:rPr>
              <a:t>        break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onsolas"/>
              </a:rPr>
              <a:t> 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onsolas"/>
              </a:rPr>
              <a:t>arrows = {"UP":"↑","DOWN":"↓","LEFT":"←","RIGHT":"→"}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onsolas"/>
              </a:rPr>
              <a:t>for s in states: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onsolas"/>
              </a:rPr>
              <a:t>    q = {a: q_value(s, a) for a in actions}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onsolas"/>
              </a:rPr>
              <a:t>    best = max(q, key=q.get)               # Q-ы ең үлкен әрекет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onsolas"/>
              </a:rPr>
              <a:t>    print(s, round(V[s], 2), best, arrows[best])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21040" y="1600200"/>
            <a:ext cx="3291840" cy="4663440"/>
          </a:xfrm>
          <a:prstGeom prst="roundRect">
            <a:avLst>
              <a:gd name="adj" fmla="val 8000"/>
            </a:avLst>
          </a:prstGeom>
          <a:solidFill>
            <a:srgbClr val="DDF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58200" y="1673352"/>
            <a:ext cx="301752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F2937"/>
                </a:solidFill>
                <a:latin typeface="Calibri"/>
              </a:rPr>
              <a:t>Қарапайым түсіндірме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58200" y="2088642"/>
            <a:ext cx="3017520" cy="4023359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Цикл: барлық күйдің жаңа мәнін ескі мәннен есептейді.
delta — мән қаншалықты өзгергенін көрсетеді; өте аз болса (&lt; 0.001), тоқтаймыз.
Соңында әр күйде ең жақсы әрекетті таңдаймыз — бұл саясат π.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F2937"/>
                </a:solidFill>
                <a:latin typeface="Calibri"/>
              </a:rPr>
              <a:t>Күйлердің соңғы мәндері және соңғы саясат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14400"/>
            <a:ext cx="1097280" cy="54864"/>
          </a:xfrm>
          <a:prstGeom prst="rect">
            <a:avLst/>
          </a:prstGeom>
          <a:solidFill>
            <a:srgbClr val="D4A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6B7280"/>
                </a:solidFill>
                <a:latin typeface="Calibri"/>
              </a:rPr>
              <a:t>γ = 0.9, 16 итерация. Әр ұяшықта: күй, V мәні және ең жақсы әрекет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64008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19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737360"/>
            <a:ext cx="11887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1188720" cy="11887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1F2937"/>
                </a:solidFill>
                <a:latin typeface="Calibri"/>
              </a:rPr>
              <a:t>A</a:t>
            </a:r>
          </a:p>
          <a:p>
            <a:pPr algn="ctr">
              <a:spcAft>
                <a:spcPts val="0"/>
              </a:spcAft>
            </a:pPr>
            <a:r>
              <a:rPr sz="1600" b="0">
                <a:solidFill>
                  <a:srgbClr val="6B7280"/>
                </a:solidFill>
                <a:latin typeface="Calibri"/>
              </a:rPr>
              <a:t>6.90  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1737360" y="1737360"/>
            <a:ext cx="11887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37360" y="1737360"/>
            <a:ext cx="1188720" cy="11887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1F2937"/>
                </a:solidFill>
                <a:latin typeface="Calibri"/>
              </a:rPr>
              <a:t>B</a:t>
            </a:r>
          </a:p>
          <a:p>
            <a:pPr algn="ctr">
              <a:spcAft>
                <a:spcPts val="0"/>
              </a:spcAft>
            </a:pPr>
            <a:r>
              <a:rPr sz="1600" b="0">
                <a:solidFill>
                  <a:srgbClr val="6B7280"/>
                </a:solidFill>
                <a:latin typeface="Calibri"/>
              </a:rPr>
              <a:t>8.12  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26080" y="1737360"/>
            <a:ext cx="11887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26080" y="1737360"/>
            <a:ext cx="1188720" cy="11887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1F2937"/>
                </a:solidFill>
                <a:latin typeface="Calibri"/>
              </a:rPr>
              <a:t>C</a:t>
            </a:r>
          </a:p>
          <a:p>
            <a:pPr algn="ctr">
              <a:spcAft>
                <a:spcPts val="0"/>
              </a:spcAft>
            </a:pPr>
            <a:r>
              <a:rPr sz="1600" b="0">
                <a:solidFill>
                  <a:srgbClr val="6B7280"/>
                </a:solidFill>
                <a:latin typeface="Calibri"/>
              </a:rPr>
              <a:t>9.39  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0" y="1737360"/>
            <a:ext cx="1188720" cy="1188720"/>
          </a:xfrm>
          <a:prstGeom prst="rect">
            <a:avLst/>
          </a:prstGeom>
          <a:solidFill>
            <a:srgbClr val="DDF3E4"/>
          </a:solidFill>
          <a:ln w="12700">
            <a:solidFill>
              <a:srgbClr val="C9D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0" y="1737360"/>
            <a:ext cx="1188720" cy="11887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1F2937"/>
                </a:solidFill>
                <a:latin typeface="Calibri"/>
              </a:rPr>
              <a:t>G</a:t>
            </a:r>
          </a:p>
          <a:p>
            <a:pPr algn="ctr">
              <a:spcAft>
                <a:spcPts val="0"/>
              </a:spcAft>
            </a:pPr>
            <a:r>
              <a:rPr sz="1600" b="0">
                <a:solidFill>
                  <a:srgbClr val="6B7280"/>
                </a:solidFill>
                <a:latin typeface="Calibri"/>
              </a:rPr>
              <a:t>+10 (финиш)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926080"/>
            <a:ext cx="11887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926080"/>
            <a:ext cx="1188720" cy="11887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1F2937"/>
                </a:solidFill>
                <a:latin typeface="Calibri"/>
              </a:rPr>
              <a:t>D</a:t>
            </a:r>
          </a:p>
          <a:p>
            <a:pPr algn="ctr">
              <a:spcAft>
                <a:spcPts val="0"/>
              </a:spcAft>
            </a:pPr>
            <a:r>
              <a:rPr sz="1600" b="0">
                <a:solidFill>
                  <a:srgbClr val="6B7280"/>
                </a:solidFill>
                <a:latin typeface="Calibri"/>
              </a:rPr>
              <a:t>5.94  ↑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737360" y="2926080"/>
            <a:ext cx="1188720" cy="1188720"/>
          </a:xfrm>
          <a:prstGeom prst="rect">
            <a:avLst/>
          </a:prstGeom>
          <a:solidFill>
            <a:srgbClr val="DADDE2"/>
          </a:solidFill>
          <a:ln w="12700">
            <a:solidFill>
              <a:srgbClr val="C9D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737360" y="2926080"/>
            <a:ext cx="1188720" cy="11887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1F2937"/>
                </a:solidFill>
                <a:latin typeface="Calibri"/>
              </a:rPr>
              <a:t>#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26080" y="2926080"/>
            <a:ext cx="11887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26080" y="2926080"/>
            <a:ext cx="1188720" cy="11887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1F2937"/>
                </a:solidFill>
                <a:latin typeface="Calibri"/>
              </a:rPr>
              <a:t>E</a:t>
            </a:r>
          </a:p>
          <a:p>
            <a:pPr algn="ctr">
              <a:spcAft>
                <a:spcPts val="0"/>
              </a:spcAft>
            </a:pPr>
            <a:r>
              <a:rPr sz="1600" b="0">
                <a:solidFill>
                  <a:srgbClr val="6B7280"/>
                </a:solidFill>
                <a:latin typeface="Calibri"/>
              </a:rPr>
              <a:t>6.23  ↑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0" y="2926080"/>
            <a:ext cx="1188720" cy="1188720"/>
          </a:xfrm>
          <a:prstGeom prst="rect">
            <a:avLst/>
          </a:prstGeom>
          <a:solidFill>
            <a:srgbClr val="FBE1E1"/>
          </a:solidFill>
          <a:ln w="12700">
            <a:solidFill>
              <a:srgbClr val="C9D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0" y="2926080"/>
            <a:ext cx="1188720" cy="11887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1F2937"/>
                </a:solidFill>
                <a:latin typeface="Calibri"/>
              </a:rPr>
              <a:t>X</a:t>
            </a:r>
          </a:p>
          <a:p>
            <a:pPr algn="ctr">
              <a:spcAft>
                <a:spcPts val="0"/>
              </a:spcAft>
            </a:pPr>
            <a:r>
              <a:rPr sz="1600" b="0">
                <a:solidFill>
                  <a:srgbClr val="6B7280"/>
                </a:solidFill>
                <a:latin typeface="Calibri"/>
              </a:rPr>
              <a:t>−10 (қауіп)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114800"/>
            <a:ext cx="1188720" cy="1188720"/>
          </a:xfrm>
          <a:prstGeom prst="rect">
            <a:avLst/>
          </a:prstGeom>
          <a:solidFill>
            <a:srgbClr val="FFF3D3"/>
          </a:solidFill>
          <a:ln w="12700">
            <a:solidFill>
              <a:srgbClr val="C9D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4114800"/>
            <a:ext cx="1188720" cy="11887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1F2937"/>
                </a:solidFill>
                <a:latin typeface="Calibri"/>
              </a:rPr>
              <a:t>S</a:t>
            </a:r>
          </a:p>
          <a:p>
            <a:pPr algn="ctr">
              <a:spcAft>
                <a:spcPts val="0"/>
              </a:spcAft>
            </a:pPr>
            <a:r>
              <a:rPr sz="1600" b="0">
                <a:solidFill>
                  <a:srgbClr val="6B7280"/>
                </a:solidFill>
                <a:latin typeface="Calibri"/>
              </a:rPr>
              <a:t>5.01  ↑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737360" y="4114800"/>
            <a:ext cx="11887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737360" y="4114800"/>
            <a:ext cx="1188720" cy="11887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1F2937"/>
                </a:solidFill>
                <a:latin typeface="Calibri"/>
              </a:rPr>
              <a:t>F</a:t>
            </a:r>
          </a:p>
          <a:p>
            <a:pPr algn="ctr">
              <a:spcAft>
                <a:spcPts val="0"/>
              </a:spcAft>
            </a:pPr>
            <a:r>
              <a:rPr sz="1600" b="0">
                <a:solidFill>
                  <a:srgbClr val="6B7280"/>
                </a:solidFill>
                <a:latin typeface="Calibri"/>
              </a:rPr>
              <a:t>4.29  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26080" y="4114800"/>
            <a:ext cx="11887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926080" y="4114800"/>
            <a:ext cx="1188720" cy="11887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1F2937"/>
                </a:solidFill>
                <a:latin typeface="Calibri"/>
              </a:rPr>
              <a:t>H</a:t>
            </a:r>
          </a:p>
          <a:p>
            <a:pPr algn="ctr">
              <a:spcAft>
                <a:spcPts val="0"/>
              </a:spcAft>
            </a:pPr>
            <a:r>
              <a:rPr sz="1600" b="0">
                <a:solidFill>
                  <a:srgbClr val="6B7280"/>
                </a:solidFill>
                <a:latin typeface="Calibri"/>
              </a:rPr>
              <a:t>5.02  ↑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0" y="4114800"/>
            <a:ext cx="11887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4800" y="4114800"/>
            <a:ext cx="1188720" cy="11887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1F2937"/>
                </a:solidFill>
                <a:latin typeface="Calibri"/>
              </a:rPr>
              <a:t>I</a:t>
            </a:r>
          </a:p>
          <a:p>
            <a:pPr algn="ctr">
              <a:spcAft>
                <a:spcPts val="0"/>
              </a:spcAft>
            </a:pPr>
            <a:r>
              <a:rPr sz="1600" b="0">
                <a:solidFill>
                  <a:srgbClr val="6B7280"/>
                </a:solidFill>
                <a:latin typeface="Calibri"/>
              </a:rPr>
              <a:t>2.77  ←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69280" y="1737360"/>
            <a:ext cx="3200400" cy="3566160"/>
          </a:xfrm>
          <a:prstGeom prst="roundRect">
            <a:avLst>
              <a:gd name="adj" fmla="val 3000"/>
            </a:avLst>
          </a:prstGeom>
          <a:solidFill>
            <a:srgbClr val="F4F5F7"/>
          </a:solidFill>
          <a:ln w="12700">
            <a:solidFill>
              <a:srgbClr val="C9D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806440" y="1828800"/>
            <a:ext cx="2926080" cy="3383279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F2937"/>
                </a:solidFill>
                <a:latin typeface="Consolas"/>
              </a:rPr>
              <a:t>A 6.9  RIGHT →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1F2937"/>
                </a:solidFill>
                <a:latin typeface="Consolas"/>
              </a:rPr>
              <a:t>B 8.12 RIGHT →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1F2937"/>
                </a:solidFill>
                <a:latin typeface="Consolas"/>
              </a:rPr>
              <a:t>C 9.39 RIGHT →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1F2937"/>
                </a:solidFill>
                <a:latin typeface="Consolas"/>
              </a:rPr>
              <a:t>D 5.94 UP    ↑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1F2937"/>
                </a:solidFill>
                <a:latin typeface="Consolas"/>
              </a:rPr>
              <a:t>E 6.23 UP    ↑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1F2937"/>
                </a:solidFill>
                <a:latin typeface="Consolas"/>
              </a:rPr>
              <a:t>S 5.01 UP    ↑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1F2937"/>
                </a:solidFill>
                <a:latin typeface="Consolas"/>
              </a:rPr>
              <a:t>F 4.29 RIGHT →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1F2937"/>
                </a:solidFill>
                <a:latin typeface="Consolas"/>
              </a:rPr>
              <a:t>H 5.02 UP    ↑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1F2937"/>
                </a:solidFill>
                <a:latin typeface="Consolas"/>
              </a:rPr>
              <a:t>I 2.77 LEFT  ←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052560" y="1737360"/>
            <a:ext cx="2606040" cy="3566160"/>
          </a:xfrm>
          <a:prstGeom prst="roundRect">
            <a:avLst>
              <a:gd name="adj" fmla="val 8000"/>
            </a:avLst>
          </a:prstGeom>
          <a:solidFill>
            <a:srgbClr val="FFF3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89720" y="1810512"/>
            <a:ext cx="233172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F2937"/>
                </a:solidFill>
                <a:latin typeface="Calibri"/>
              </a:rPr>
              <a:t>Саясат π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89720" y="2225802"/>
            <a:ext cx="2331720" cy="2926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F2937"/>
                </a:solidFill>
                <a:latin typeface="Calibri"/>
              </a:rPr>
              <a:t>π(S)=UP
π(D)=UP
π(A)=RIGHT
π(B)=RIGHT
π(C)=RIGHT
π(F)=RIGHT
π(H)=UP
π(E)=UP
π(I)=LEFT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" y="5486400"/>
            <a:ext cx="11109960" cy="822960"/>
          </a:xfrm>
          <a:prstGeom prst="roundRect">
            <a:avLst>
              <a:gd name="adj" fmla="val 8000"/>
            </a:avLst>
          </a:prstGeom>
          <a:solidFill>
            <a:srgbClr val="DDF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5800" y="5559552"/>
            <a:ext cx="1083564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2937"/>
                </a:solidFill>
                <a:latin typeface="Calibri"/>
              </a:rPr>
              <a:t>Маршрут: S → D → A → B → C → 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" y="5936742"/>
            <a:ext cx="10835640" cy="182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F2937"/>
                </a:solidFill>
                <a:latin typeface="Calibri"/>
              </a:rPr>
              <a:t>Робот X-тен алыс жүретін, қауіпсіз жолды таңдады. I ұяшығында X жанында, сондықтан оң жаққа емес, солға (H-қа) бұрылады.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F2937"/>
                </a:solidFill>
                <a:latin typeface="Calibri"/>
              </a:rPr>
              <a:t>7-тапсырма — Эксперименттер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14400"/>
            <a:ext cx="1097280" cy="54864"/>
          </a:xfrm>
          <a:prstGeom prst="rect">
            <a:avLst/>
          </a:prstGeom>
          <a:solidFill>
            <a:srgbClr val="D4A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6B7280"/>
                </a:solidFill>
                <a:latin typeface="Calibri"/>
              </a:rPr>
              <a:t>Бағдарламаны параметрлерді өзгертіп іске қостық (бастапқы саясатпен салыстырғанда)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64008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20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645920"/>
          <a:ext cx="11338560" cy="45720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457200"/>
                <a:gridCol w="2377440"/>
                <a:gridCol w="4297680"/>
                <a:gridCol w="4206240"/>
              </a:tblGrid>
              <a:tr h="914400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2937"/>
                          </a:solidFill>
                          <a:latin typeface="Calibri"/>
                        </a:rPr>
                        <a:t>№</a:t>
                      </a:r>
                    </a:p>
                  </a:txBody>
                  <a:tcPr anchor="ctr" marL="73152" marR="73152">
                    <a:solidFill>
                      <a:srgbClr val="E6EF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2937"/>
                          </a:solidFill>
                          <a:latin typeface="Calibri"/>
                        </a:rPr>
                        <a:t>Өзгеріс</a:t>
                      </a:r>
                    </a:p>
                  </a:txBody>
                  <a:tcPr anchor="ctr" marL="73152" marR="73152">
                    <a:solidFill>
                      <a:srgbClr val="E6EF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2937"/>
                          </a:solidFill>
                          <a:latin typeface="Calibri"/>
                        </a:rPr>
                        <a:t>Саясат қалай өзгерді?</a:t>
                      </a:r>
                    </a:p>
                  </a:txBody>
                  <a:tcPr anchor="ctr" marL="73152" marR="73152">
                    <a:solidFill>
                      <a:srgbClr val="E6EF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2937"/>
                          </a:solidFill>
                          <a:latin typeface="Calibri"/>
                        </a:rPr>
                        <a:t>Неліктен?</a:t>
                      </a:r>
                    </a:p>
                  </a:txBody>
                  <a:tcPr anchor="ctr" marL="73152" marR="73152">
                    <a:solidFill>
                      <a:srgbClr val="E6EFFA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2937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</a:rPr>
                        <a:t>γ: 0.9 → 0.2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</a:rPr>
                        <a:t>Дерлік өзгермеді (тек I: ← орнына ↓). Алыс күйлердің мәні 0-ге жақын (S ≈ −0.12), C = 8.15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</a:rPr>
                        <a:t>Робот алысты көрмейді: тек G-ға жақын күйлер ғана «жақсы» болып көрінеді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2937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</a:rPr>
                        <a:t>Негізгі қозғалыс: 0.8 → 0.6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</a:rPr>
                        <a:t>E: ↑ → ←, F: → → ←, I: ← → ↓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</a:rPr>
                        <a:t>Көбірек кездейсоқтық — X-ке қарай сырғу қаупі өсті, робот қауіпсіз әрекеттерді таңдады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2937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</a:rPr>
                        <a:t>Қауіпті күй: −10 → −30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</a:rPr>
                        <a:t>F: → → ←, H: ↑ → ←, I: ← → ↓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</a:rPr>
                        <a:t>X-ке түсу өте қымбат болды, робот X жанындағы жолдан алыстады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2937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</a:rPr>
                        <a:t>Қадам марапаты: −0.1 → −1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</a:rPr>
                        <a:t>Саясат өзгермеді, бірақ барлық мән төмендеді (S: 5.01 → 1.19)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</a:rPr>
                        <a:t>Әр қадам қымбат, бірақ ең қысқа жол әлі де тиімді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F2937"/>
                </a:solidFill>
                <a:latin typeface="Calibri"/>
              </a:rPr>
              <a:t>Қорытынды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14400"/>
            <a:ext cx="1097280" cy="54864"/>
          </a:xfrm>
          <a:prstGeom prst="rect">
            <a:avLst/>
          </a:prstGeom>
          <a:solidFill>
            <a:srgbClr val="D4A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64008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21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1280160"/>
            <a:ext cx="457200" cy="457200"/>
          </a:xfrm>
          <a:prstGeom prst="ellipse">
            <a:avLst/>
          </a:prstGeom>
          <a:solidFill>
            <a:srgbClr val="D4A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45720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261872"/>
            <a:ext cx="1042416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F2937"/>
                </a:solidFill>
                <a:latin typeface="Calibri"/>
              </a:rPr>
              <a:t>Робот қозғалысы белгісіз болған кезде (80% / 10% / 10%) MDP көмегімен шешім қабылдаймыз.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1892807"/>
            <a:ext cx="457200" cy="457200"/>
          </a:xfrm>
          <a:prstGeom prst="ellipse">
            <a:avLst/>
          </a:prstGeom>
          <a:solidFill>
            <a:srgbClr val="D4A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892807"/>
            <a:ext cx="45720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1874519"/>
            <a:ext cx="1042416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F2937"/>
                </a:solidFill>
                <a:latin typeface="Calibri"/>
              </a:rPr>
              <a:t>MDP күйлерден, әрекеттерден, ауысу ықтималдықтарынан, марапаттардан, бастапқы және терминалдық күйлерден тұрады.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2505456"/>
            <a:ext cx="457200" cy="457200"/>
          </a:xfrm>
          <a:prstGeom prst="ellipse">
            <a:avLst/>
          </a:prstGeom>
          <a:solidFill>
            <a:srgbClr val="D4A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505456"/>
            <a:ext cx="45720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487168"/>
            <a:ext cx="1042416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F2937"/>
                </a:solidFill>
                <a:latin typeface="Calibri"/>
              </a:rPr>
              <a:t>Q(s,a) — әрекеттің бағасы, V(s) — күйдің ең жақсы бағасы; V ең үлкен Q-ға тең.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3118103"/>
            <a:ext cx="457200" cy="457200"/>
          </a:xfrm>
          <a:prstGeom prst="ellipse">
            <a:avLst/>
          </a:prstGeom>
          <a:solidFill>
            <a:srgbClr val="D4A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118103"/>
            <a:ext cx="45720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099815"/>
            <a:ext cx="1042416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F2937"/>
                </a:solidFill>
                <a:latin typeface="Calibri"/>
              </a:rPr>
              <a:t>Мәндер итерациясы G-дан тарайтын «жақсылықты» біртіндеп барлық күйге жеткізеді және 16 қадамда тұрақталады.</a:t>
            </a:r>
          </a:p>
        </p:txBody>
      </p:sp>
      <p:sp>
        <p:nvSpPr>
          <p:cNvPr id="17" name="Oval 16"/>
          <p:cNvSpPr/>
          <p:nvPr/>
        </p:nvSpPr>
        <p:spPr>
          <a:xfrm>
            <a:off x="548640" y="3730752"/>
            <a:ext cx="457200" cy="457200"/>
          </a:xfrm>
          <a:prstGeom prst="ellipse">
            <a:avLst/>
          </a:prstGeom>
          <a:solidFill>
            <a:srgbClr val="D4A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730752"/>
            <a:ext cx="45720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3712464"/>
            <a:ext cx="1042416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F2937"/>
                </a:solidFill>
                <a:latin typeface="Calibri"/>
              </a:rPr>
              <a:t>Алынған саясатта робот S → D → A → B → C → G жолымен қауіпті X-тен алыс жүреді.</a:t>
            </a:r>
          </a:p>
        </p:txBody>
      </p:sp>
      <p:sp>
        <p:nvSpPr>
          <p:cNvPr id="20" name="Oval 19"/>
          <p:cNvSpPr/>
          <p:nvPr/>
        </p:nvSpPr>
        <p:spPr>
          <a:xfrm>
            <a:off x="548640" y="4343400"/>
            <a:ext cx="457200" cy="457200"/>
          </a:xfrm>
          <a:prstGeom prst="ellipse">
            <a:avLst/>
          </a:prstGeom>
          <a:solidFill>
            <a:srgbClr val="D4A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343400"/>
            <a:ext cx="45720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4325112"/>
            <a:ext cx="1042416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F2937"/>
                </a:solidFill>
                <a:latin typeface="Calibri"/>
              </a:rPr>
              <a:t>γ кішкентай болса, робот алысты көрмейді; үлкен болса, болашақты да ескереді.</a:t>
            </a:r>
          </a:p>
        </p:txBody>
      </p:sp>
      <p:sp>
        <p:nvSpPr>
          <p:cNvPr id="23" name="Oval 22"/>
          <p:cNvSpPr/>
          <p:nvPr/>
        </p:nvSpPr>
        <p:spPr>
          <a:xfrm>
            <a:off x="548640" y="4956048"/>
            <a:ext cx="457200" cy="457200"/>
          </a:xfrm>
          <a:prstGeom prst="ellipse">
            <a:avLst/>
          </a:prstGeom>
          <a:solidFill>
            <a:srgbClr val="D4A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4956048"/>
            <a:ext cx="45720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4937760"/>
            <a:ext cx="1042416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F2937"/>
                </a:solidFill>
                <a:latin typeface="Calibri"/>
              </a:rPr>
              <a:t>X үшін айыппұл өскенде немесе қозғалыс сенімсіз болғанда, робот қауіпсіз бағыттарды таңдайды.</a:t>
            </a:r>
          </a:p>
        </p:txBody>
      </p:sp>
      <p:sp>
        <p:nvSpPr>
          <p:cNvPr id="26" name="Oval 25"/>
          <p:cNvSpPr/>
          <p:nvPr/>
        </p:nvSpPr>
        <p:spPr>
          <a:xfrm>
            <a:off x="548640" y="5568696"/>
            <a:ext cx="457200" cy="457200"/>
          </a:xfrm>
          <a:prstGeom prst="ellipse">
            <a:avLst/>
          </a:prstGeom>
          <a:solidFill>
            <a:srgbClr val="D4A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5568696"/>
            <a:ext cx="45720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5550408"/>
            <a:ext cx="1042416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F2937"/>
                </a:solidFill>
                <a:latin typeface="Calibri"/>
              </a:rPr>
              <a:t>Қадам бағасы өссе, мәндер төмендейді, бірақ қысқа жол сол күйінде тиімді болып қалады.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>
              <a:spcAft>
                <a:spcPts val="400"/>
              </a:spcAft>
            </a:pPr>
            <a:r>
              <a:rPr lang="kk-KZ" sz="2800" b="1">
                <a:solidFill>
                  <a:srgbClr val="1F2937"/>
                </a:solidFill>
                <a:latin typeface="Calibri"/>
              </a:rPr>
              <a:t>Практикалық жұмыстың мақсаттары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14400"/>
            <a:ext cx="1097280" cy="54864"/>
          </a:xfrm>
          <a:prstGeom prst="rect">
            <a:avLst/>
          </a:prstGeom>
          <a:solidFill>
            <a:srgbClr val="D4A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k-KZ"/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>
              <a:spcAft>
                <a:spcPts val="400"/>
              </a:spcAft>
            </a:pPr>
            <a:r>
              <a:rPr lang="kk-KZ" sz="1700" b="0">
                <a:solidFill>
                  <a:srgbClr val="6B7280"/>
                </a:solidFill>
                <a:latin typeface="Calibri"/>
              </a:rPr>
              <a:t>Осы жұмыстың соңында нені түсініп, нені істей алатын боламыз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64008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r">
              <a:spcAft>
                <a:spcPts val="400"/>
              </a:spcAft>
            </a:pPr>
            <a:r>
              <a:rPr lang="kk-KZ" sz="1100" b="0">
                <a:solidFill>
                  <a:srgbClr val="6B7280"/>
                </a:solidFill>
                <a:latin typeface="Calibri"/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3578352" cy="2103120"/>
          </a:xfrm>
          <a:prstGeom prst="roundRect">
            <a:avLst>
              <a:gd name="adj" fmla="val 8000"/>
            </a:avLst>
          </a:prstGeom>
          <a:solidFill>
            <a:srgbClr val="E6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k-KZ"/>
          </a:p>
        </p:txBody>
      </p:sp>
      <p:sp>
        <p:nvSpPr>
          <p:cNvPr id="7" name="Oval 6"/>
          <p:cNvSpPr/>
          <p:nvPr/>
        </p:nvSpPr>
        <p:spPr>
          <a:xfrm>
            <a:off x="685800" y="1847088"/>
            <a:ext cx="411480" cy="4114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k-KZ"/>
          </a:p>
        </p:txBody>
      </p:sp>
      <p:sp>
        <p:nvSpPr>
          <p:cNvPr id="8" name="TextBox 7"/>
          <p:cNvSpPr txBox="1"/>
          <p:nvPr/>
        </p:nvSpPr>
        <p:spPr>
          <a:xfrm>
            <a:off x="685800" y="1847088"/>
            <a:ext cx="41148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normAutofit/>
          </a:bodyPr>
          <a:lstStyle/>
          <a:p>
            <a:pPr algn="ctr">
              <a:spcAft>
                <a:spcPts val="400"/>
              </a:spcAft>
            </a:pPr>
            <a:r>
              <a:rPr lang="kk-KZ" sz="1800" b="1">
                <a:solidFill>
                  <a:srgbClr val="1F2937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828800"/>
            <a:ext cx="2801112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normAutofit/>
          </a:bodyPr>
          <a:lstStyle/>
          <a:p>
            <a:pPr algn="l">
              <a:spcAft>
                <a:spcPts val="400"/>
              </a:spcAft>
            </a:pPr>
            <a:r>
              <a:rPr lang="kk-KZ" sz="1800" b="1">
                <a:solidFill>
                  <a:srgbClr val="1F2937"/>
                </a:solidFill>
                <a:latin typeface="Calibri"/>
              </a:rPr>
              <a:t>Тақырыпты түсіну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377440"/>
            <a:ext cx="3304032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>
              <a:spcAft>
                <a:spcPts val="400"/>
              </a:spcAft>
            </a:pPr>
            <a:r>
              <a:rPr lang="kk-KZ" sz="1600" b="0">
                <a:solidFill>
                  <a:srgbClr val="1F2937"/>
                </a:solidFill>
                <a:latin typeface="Calibri"/>
              </a:rPr>
              <a:t>MDP, күй, әрекет, марапат, ықтималдық және дисконттау дегеніміз не — қарапайым тілмен меңгереміз.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1584" y="1737360"/>
            <a:ext cx="3578352" cy="2103120"/>
          </a:xfrm>
          <a:prstGeom prst="roundRect">
            <a:avLst>
              <a:gd name="adj" fmla="val 8000"/>
            </a:avLst>
          </a:prstGeom>
          <a:solidFill>
            <a:srgbClr val="FFF3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k-KZ"/>
          </a:p>
        </p:txBody>
      </p:sp>
      <p:sp>
        <p:nvSpPr>
          <p:cNvPr id="12" name="Oval 11"/>
          <p:cNvSpPr/>
          <p:nvPr/>
        </p:nvSpPr>
        <p:spPr>
          <a:xfrm>
            <a:off x="4428744" y="1847088"/>
            <a:ext cx="411480" cy="4114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k-KZ"/>
          </a:p>
        </p:txBody>
      </p:sp>
      <p:sp>
        <p:nvSpPr>
          <p:cNvPr id="13" name="TextBox 12"/>
          <p:cNvSpPr txBox="1"/>
          <p:nvPr/>
        </p:nvSpPr>
        <p:spPr>
          <a:xfrm>
            <a:off x="4428744" y="1847088"/>
            <a:ext cx="41148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normAutofit/>
          </a:bodyPr>
          <a:lstStyle/>
          <a:p>
            <a:pPr algn="ctr">
              <a:spcAft>
                <a:spcPts val="400"/>
              </a:spcAft>
            </a:pPr>
            <a:r>
              <a:rPr lang="kk-KZ" sz="1800" b="1">
                <a:solidFill>
                  <a:srgbClr val="1F2937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1664" y="1828800"/>
            <a:ext cx="2801112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normAutofit/>
          </a:bodyPr>
          <a:lstStyle/>
          <a:p>
            <a:pPr algn="l">
              <a:spcAft>
                <a:spcPts val="400"/>
              </a:spcAft>
            </a:pPr>
            <a:r>
              <a:rPr lang="kk-KZ" sz="1800" b="1">
                <a:solidFill>
                  <a:srgbClr val="1F2937"/>
                </a:solidFill>
                <a:latin typeface="Calibri"/>
              </a:rPr>
              <a:t>Есепті талдау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28744" y="2377440"/>
            <a:ext cx="3304032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>
              <a:spcAft>
                <a:spcPts val="400"/>
              </a:spcAft>
            </a:pPr>
            <a:r>
              <a:rPr lang="kk-KZ" sz="1600" b="0">
                <a:solidFill>
                  <a:srgbClr val="1F2937"/>
                </a:solidFill>
                <a:latin typeface="Calibri"/>
              </a:rPr>
              <a:t>Жеткізу роботының әлемін, 80 / 10 / 10 белгісіздігін және марапаттарды дұрыс оқимыз.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34528" y="1737360"/>
            <a:ext cx="3578352" cy="2103120"/>
          </a:xfrm>
          <a:prstGeom prst="roundRect">
            <a:avLst>
              <a:gd name="adj" fmla="val 8000"/>
            </a:avLst>
          </a:prstGeom>
          <a:solidFill>
            <a:srgbClr val="DDF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k-KZ"/>
          </a:p>
        </p:txBody>
      </p:sp>
      <p:sp>
        <p:nvSpPr>
          <p:cNvPr id="17" name="Oval 16"/>
          <p:cNvSpPr/>
          <p:nvPr/>
        </p:nvSpPr>
        <p:spPr>
          <a:xfrm>
            <a:off x="8171688" y="1847088"/>
            <a:ext cx="411480" cy="4114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k-KZ"/>
          </a:p>
        </p:txBody>
      </p:sp>
      <p:sp>
        <p:nvSpPr>
          <p:cNvPr id="18" name="TextBox 17"/>
          <p:cNvSpPr txBox="1"/>
          <p:nvPr/>
        </p:nvSpPr>
        <p:spPr>
          <a:xfrm>
            <a:off x="8171688" y="1847088"/>
            <a:ext cx="41148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normAutofit/>
          </a:bodyPr>
          <a:lstStyle/>
          <a:p>
            <a:pPr algn="ctr">
              <a:spcAft>
                <a:spcPts val="400"/>
              </a:spcAft>
            </a:pPr>
            <a:r>
              <a:rPr lang="kk-KZ" sz="1800" b="1">
                <a:solidFill>
                  <a:srgbClr val="1F2937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74608" y="1828800"/>
            <a:ext cx="2801112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normAutofit/>
          </a:bodyPr>
          <a:lstStyle/>
          <a:p>
            <a:pPr algn="l">
              <a:spcAft>
                <a:spcPts val="400"/>
              </a:spcAft>
            </a:pPr>
            <a:r>
              <a:rPr lang="kk-KZ" sz="1800" b="1">
                <a:solidFill>
                  <a:srgbClr val="1F2937"/>
                </a:solidFill>
                <a:latin typeface="Calibri"/>
              </a:rPr>
              <a:t>Тапсырмаларды шығару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71688" y="2377440"/>
            <a:ext cx="3304032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>
              <a:spcAft>
                <a:spcPts val="400"/>
              </a:spcAft>
            </a:pPr>
            <a:r>
              <a:rPr lang="kk-KZ" sz="1600" b="0">
                <a:solidFill>
                  <a:srgbClr val="1F2937"/>
                </a:solidFill>
                <a:latin typeface="Calibri"/>
              </a:rPr>
              <a:t>1–5 тапсырмалар: MDP сипаттамасы, ауысу кестелері, γ, Q мен V, мәндер итерациясын қолмен есептейміз.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023360"/>
            <a:ext cx="3578352" cy="2103120"/>
          </a:xfrm>
          <a:prstGeom prst="roundRect">
            <a:avLst>
              <a:gd name="adj" fmla="val 8000"/>
            </a:avLst>
          </a:prstGeom>
          <a:solidFill>
            <a:srgbClr val="FBE1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k-KZ"/>
          </a:p>
        </p:txBody>
      </p:sp>
      <p:sp>
        <p:nvSpPr>
          <p:cNvPr id="22" name="Oval 21"/>
          <p:cNvSpPr/>
          <p:nvPr/>
        </p:nvSpPr>
        <p:spPr>
          <a:xfrm>
            <a:off x="685800" y="4133088"/>
            <a:ext cx="411480" cy="4114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k-KZ"/>
          </a:p>
        </p:txBody>
      </p:sp>
      <p:sp>
        <p:nvSpPr>
          <p:cNvPr id="23" name="TextBox 22"/>
          <p:cNvSpPr txBox="1"/>
          <p:nvPr/>
        </p:nvSpPr>
        <p:spPr>
          <a:xfrm>
            <a:off x="685800" y="4133088"/>
            <a:ext cx="41148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normAutofit/>
          </a:bodyPr>
          <a:lstStyle/>
          <a:p>
            <a:pPr algn="ctr">
              <a:spcAft>
                <a:spcPts val="400"/>
              </a:spcAft>
            </a:pPr>
            <a:r>
              <a:rPr lang="kk-KZ" sz="1800" b="1">
                <a:solidFill>
                  <a:srgbClr val="1F2937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4114800"/>
            <a:ext cx="2801112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normAutofit/>
          </a:bodyPr>
          <a:lstStyle/>
          <a:p>
            <a:pPr algn="l">
              <a:spcAft>
                <a:spcPts val="400"/>
              </a:spcAft>
            </a:pPr>
            <a:r>
              <a:rPr lang="kk-KZ" sz="1800" b="1">
                <a:solidFill>
                  <a:srgbClr val="1F2937"/>
                </a:solidFill>
                <a:latin typeface="Calibri"/>
              </a:rPr>
              <a:t>Python-да кодтау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4663440"/>
            <a:ext cx="3304032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>
              <a:spcAft>
                <a:spcPts val="400"/>
              </a:spcAft>
            </a:pPr>
            <a:r>
              <a:rPr lang="kk-KZ" sz="1600" b="0">
                <a:solidFill>
                  <a:srgbClr val="1F2937"/>
                </a:solidFill>
                <a:latin typeface="Calibri"/>
              </a:rPr>
              <a:t>6-тапсырма: transitions функциясын жазып, мәндер итерациясын іске қосамыз.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91584" y="4023360"/>
            <a:ext cx="3578352" cy="2103120"/>
          </a:xfrm>
          <a:prstGeom prst="roundRect">
            <a:avLst>
              <a:gd name="adj" fmla="val 8000"/>
            </a:avLst>
          </a:prstGeom>
          <a:solidFill>
            <a:srgbClr val="E6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k-KZ"/>
          </a:p>
        </p:txBody>
      </p:sp>
      <p:sp>
        <p:nvSpPr>
          <p:cNvPr id="27" name="Oval 26"/>
          <p:cNvSpPr/>
          <p:nvPr/>
        </p:nvSpPr>
        <p:spPr>
          <a:xfrm>
            <a:off x="4428744" y="4133088"/>
            <a:ext cx="411480" cy="4114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k-KZ"/>
          </a:p>
        </p:txBody>
      </p:sp>
      <p:sp>
        <p:nvSpPr>
          <p:cNvPr id="28" name="TextBox 27"/>
          <p:cNvSpPr txBox="1"/>
          <p:nvPr/>
        </p:nvSpPr>
        <p:spPr>
          <a:xfrm>
            <a:off x="4428744" y="4133088"/>
            <a:ext cx="41148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normAutofit/>
          </a:bodyPr>
          <a:lstStyle/>
          <a:p>
            <a:pPr algn="ctr">
              <a:spcAft>
                <a:spcPts val="400"/>
              </a:spcAft>
            </a:pPr>
            <a:r>
              <a:rPr lang="kk-KZ" sz="1800" b="1">
                <a:solidFill>
                  <a:srgbClr val="1F2937"/>
                </a:solidFill>
                <a:latin typeface="Calibr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31664" y="4114800"/>
            <a:ext cx="2801112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normAutofit/>
          </a:bodyPr>
          <a:lstStyle/>
          <a:p>
            <a:pPr algn="l">
              <a:spcAft>
                <a:spcPts val="400"/>
              </a:spcAft>
            </a:pPr>
            <a:r>
              <a:rPr lang="kk-KZ" sz="1800" b="1">
                <a:solidFill>
                  <a:srgbClr val="1F2937"/>
                </a:solidFill>
                <a:latin typeface="Calibri"/>
              </a:rPr>
              <a:t>Эксперимент жасау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28744" y="4663440"/>
            <a:ext cx="3304032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>
              <a:spcAft>
                <a:spcPts val="400"/>
              </a:spcAft>
            </a:pPr>
            <a:r>
              <a:rPr lang="kk-KZ" sz="1600" b="0">
                <a:solidFill>
                  <a:srgbClr val="1F2937"/>
                </a:solidFill>
                <a:latin typeface="Calibri"/>
              </a:rPr>
              <a:t>7-тапсырма: γ, ықтималдық пен айыппұлды өзгертіп, саясат қалай өзгеретінін бақылаймыз.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34528" y="4023360"/>
            <a:ext cx="3578352" cy="2103120"/>
          </a:xfrm>
          <a:prstGeom prst="roundRect">
            <a:avLst>
              <a:gd name="adj" fmla="val 8000"/>
            </a:avLst>
          </a:prstGeom>
          <a:solidFill>
            <a:srgbClr val="FFF3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k-KZ"/>
          </a:p>
        </p:txBody>
      </p:sp>
      <p:sp>
        <p:nvSpPr>
          <p:cNvPr id="32" name="Oval 31"/>
          <p:cNvSpPr/>
          <p:nvPr/>
        </p:nvSpPr>
        <p:spPr>
          <a:xfrm>
            <a:off x="8171688" y="4133088"/>
            <a:ext cx="411480" cy="4114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k-KZ"/>
          </a:p>
        </p:txBody>
      </p:sp>
      <p:sp>
        <p:nvSpPr>
          <p:cNvPr id="33" name="TextBox 32"/>
          <p:cNvSpPr txBox="1"/>
          <p:nvPr/>
        </p:nvSpPr>
        <p:spPr>
          <a:xfrm>
            <a:off x="8171688" y="4133088"/>
            <a:ext cx="41148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normAutofit/>
          </a:bodyPr>
          <a:lstStyle/>
          <a:p>
            <a:pPr algn="ctr">
              <a:spcAft>
                <a:spcPts val="400"/>
              </a:spcAft>
            </a:pPr>
            <a:r>
              <a:rPr lang="kk-KZ" sz="1800" b="1">
                <a:solidFill>
                  <a:srgbClr val="1F2937"/>
                </a:solidFill>
                <a:latin typeface="Calibri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74608" y="4114800"/>
            <a:ext cx="2801112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normAutofit/>
          </a:bodyPr>
          <a:lstStyle/>
          <a:p>
            <a:pPr algn="l">
              <a:spcAft>
                <a:spcPts val="400"/>
              </a:spcAft>
            </a:pPr>
            <a:r>
              <a:rPr lang="kk-KZ" sz="1800" b="1">
                <a:solidFill>
                  <a:srgbClr val="1F2937"/>
                </a:solidFill>
                <a:latin typeface="Calibri"/>
              </a:rPr>
              <a:t>Қорытынды шығару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71688" y="4663440"/>
            <a:ext cx="3304032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>
              <a:spcAft>
                <a:spcPts val="400"/>
              </a:spcAft>
            </a:pPr>
            <a:r>
              <a:rPr lang="kk-KZ" sz="1600" b="0">
                <a:solidFill>
                  <a:srgbClr val="1F2937"/>
                </a:solidFill>
                <a:latin typeface="Calibri"/>
              </a:rPr>
              <a:t>Робот қай жолмен жүретінін көріп, неге дәл солай таңдағанын түсіндіре аламыз.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>
              <a:spcAft>
                <a:spcPts val="400"/>
              </a:spcAft>
            </a:pPr>
            <a:r>
              <a:rPr lang="kk-KZ" sz="2800" b="1">
                <a:solidFill>
                  <a:srgbClr val="1F2937"/>
                </a:solidFill>
                <a:latin typeface="Calibri"/>
              </a:rPr>
              <a:t>Тақырып қарапайым тілмен: MDP дегеніміз не?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14400"/>
            <a:ext cx="1097280" cy="54864"/>
          </a:xfrm>
          <a:prstGeom prst="rect">
            <a:avLst/>
          </a:prstGeom>
          <a:solidFill>
            <a:srgbClr val="D4A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k-KZ"/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>
              <a:spcAft>
                <a:spcPts val="400"/>
              </a:spcAft>
            </a:pPr>
            <a:r>
              <a:rPr lang="kk-KZ" sz="1700" b="0">
                <a:solidFill>
                  <a:srgbClr val="6B7280"/>
                </a:solidFill>
                <a:latin typeface="Calibri"/>
              </a:rPr>
              <a:t>Мысал: компьютерлік ойынның ережелері — қайда тұрмыз, не істей аламыз, не болады, қанша ұпай аламыз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64008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r">
              <a:spcAft>
                <a:spcPts val="400"/>
              </a:spcAft>
            </a:pPr>
            <a:r>
              <a:rPr lang="kk-KZ" sz="1100" b="0">
                <a:solidFill>
                  <a:srgbClr val="6B7280"/>
                </a:solidFill>
                <a:latin typeface="Calibri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E6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k-KZ"/>
          </a:p>
        </p:txBody>
      </p:sp>
      <p:sp>
        <p:nvSpPr>
          <p:cNvPr id="7" name="TextBox 6"/>
          <p:cNvSpPr txBox="1"/>
          <p:nvPr/>
        </p:nvSpPr>
        <p:spPr>
          <a:xfrm>
            <a:off x="731520" y="1783080"/>
            <a:ext cx="1069848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normAutofit/>
          </a:bodyPr>
          <a:lstStyle/>
          <a:p>
            <a:pPr algn="ctr">
              <a:spcAft>
                <a:spcPts val="400"/>
              </a:spcAft>
            </a:pPr>
            <a:r>
              <a:rPr lang="kk-KZ" sz="2000" b="1">
                <a:solidFill>
                  <a:srgbClr val="1F2937"/>
                </a:solidFill>
                <a:latin typeface="Calibri"/>
              </a:rPr>
              <a:t>MDP — кездейсоқтық бар ортада шешім қабылдаудың «ережелер жинағы». Робот бағыт таңдайды, бірақ нәтиже әрқашан дәл күткендей болмайды.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834640"/>
            <a:ext cx="2633472" cy="1737360"/>
          </a:xfrm>
          <a:prstGeom prst="roundRect">
            <a:avLst>
              <a:gd name="adj" fmla="val 8000"/>
            </a:avLst>
          </a:prstGeom>
          <a:solidFill>
            <a:srgbClr val="FFF3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k-KZ"/>
          </a:p>
        </p:txBody>
      </p:sp>
      <p:sp>
        <p:nvSpPr>
          <p:cNvPr id="9" name="TextBox 8"/>
          <p:cNvSpPr txBox="1"/>
          <p:nvPr/>
        </p:nvSpPr>
        <p:spPr>
          <a:xfrm>
            <a:off x="685800" y="2926080"/>
            <a:ext cx="2359152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>
              <a:spcAft>
                <a:spcPts val="400"/>
              </a:spcAft>
            </a:pPr>
            <a:r>
              <a:rPr lang="kk-KZ" sz="1800" b="1">
                <a:solidFill>
                  <a:srgbClr val="1F2937"/>
                </a:solidFill>
                <a:latin typeface="Calibri"/>
              </a:rPr>
              <a:t>1. Күй (S)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383280"/>
            <a:ext cx="2359152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>
              <a:spcAft>
                <a:spcPts val="400"/>
              </a:spcAft>
            </a:pPr>
            <a:r>
              <a:rPr lang="kk-KZ" sz="1600" b="1">
                <a:solidFill>
                  <a:srgbClr val="1F2937"/>
                </a:solidFill>
                <a:latin typeface="Calibri"/>
              </a:rPr>
              <a:t>«Қазір қайдамын?»</a:t>
            </a:r>
          </a:p>
          <a:p>
            <a:pPr algn="l">
              <a:spcAft>
                <a:spcPts val="400"/>
              </a:spcAft>
            </a:pPr>
            <a:r>
              <a:rPr lang="kk-KZ" sz="1600" b="0">
                <a:solidFill>
                  <a:srgbClr val="1F2937"/>
                </a:solidFill>
                <a:latin typeface="Calibri"/>
              </a:rPr>
              <a:t>Робот тұрған ұяшық: A, B, C … 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46704" y="2834640"/>
            <a:ext cx="2633472" cy="1737360"/>
          </a:xfrm>
          <a:prstGeom prst="roundRect">
            <a:avLst>
              <a:gd name="adj" fmla="val 8000"/>
            </a:avLst>
          </a:prstGeom>
          <a:solidFill>
            <a:srgbClr val="DDF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k-KZ"/>
          </a:p>
        </p:txBody>
      </p:sp>
      <p:sp>
        <p:nvSpPr>
          <p:cNvPr id="12" name="TextBox 11"/>
          <p:cNvSpPr txBox="1"/>
          <p:nvPr/>
        </p:nvSpPr>
        <p:spPr>
          <a:xfrm>
            <a:off x="3483864" y="2926080"/>
            <a:ext cx="2359152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>
              <a:spcAft>
                <a:spcPts val="400"/>
              </a:spcAft>
            </a:pPr>
            <a:r>
              <a:rPr lang="kk-KZ" sz="1800" b="1">
                <a:solidFill>
                  <a:srgbClr val="1F2937"/>
                </a:solidFill>
                <a:latin typeface="Calibri"/>
              </a:rPr>
              <a:t>2. Әрекет (A)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83864" y="3383280"/>
            <a:ext cx="2359152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>
              <a:spcAft>
                <a:spcPts val="400"/>
              </a:spcAft>
            </a:pPr>
            <a:r>
              <a:rPr lang="kk-KZ" sz="1600" b="1">
                <a:solidFill>
                  <a:srgbClr val="1F2937"/>
                </a:solidFill>
                <a:latin typeface="Calibri"/>
              </a:rPr>
              <a:t>«Не істей аламын?»</a:t>
            </a:r>
          </a:p>
          <a:p>
            <a:pPr algn="l">
              <a:spcAft>
                <a:spcPts val="400"/>
              </a:spcAft>
            </a:pPr>
            <a:r>
              <a:rPr lang="kk-KZ" sz="1600" b="0">
                <a:solidFill>
                  <a:srgbClr val="1F2937"/>
                </a:solidFill>
                <a:latin typeface="Calibri"/>
              </a:rPr>
              <a:t>4 қозғалыс: UP, DOWN, LEFT, RIGHT.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44768" y="2834640"/>
            <a:ext cx="2633472" cy="1737360"/>
          </a:xfrm>
          <a:prstGeom prst="roundRect">
            <a:avLst>
              <a:gd name="adj" fmla="val 8000"/>
            </a:avLst>
          </a:prstGeom>
          <a:solidFill>
            <a:srgbClr val="FBE1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k-KZ"/>
          </a:p>
        </p:txBody>
      </p:sp>
      <p:sp>
        <p:nvSpPr>
          <p:cNvPr id="15" name="TextBox 14"/>
          <p:cNvSpPr txBox="1"/>
          <p:nvPr/>
        </p:nvSpPr>
        <p:spPr>
          <a:xfrm>
            <a:off x="6281928" y="2926080"/>
            <a:ext cx="2359152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>
              <a:spcAft>
                <a:spcPts val="400"/>
              </a:spcAft>
            </a:pPr>
            <a:r>
              <a:rPr lang="kk-KZ" sz="1800" b="1">
                <a:solidFill>
                  <a:srgbClr val="1F2937"/>
                </a:solidFill>
                <a:latin typeface="Calibri"/>
              </a:rPr>
              <a:t>3. Ықтималдық (T)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1928" y="3383280"/>
            <a:ext cx="2359152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>
              <a:spcAft>
                <a:spcPts val="400"/>
              </a:spcAft>
            </a:pPr>
            <a:r>
              <a:rPr lang="kk-KZ" sz="1600" b="1">
                <a:solidFill>
                  <a:srgbClr val="1F2937"/>
                </a:solidFill>
                <a:latin typeface="Calibri"/>
              </a:rPr>
              <a:t>«Не болады?»</a:t>
            </a:r>
          </a:p>
          <a:p>
            <a:pPr algn="l">
              <a:spcAft>
                <a:spcPts val="400"/>
              </a:spcAft>
            </a:pPr>
            <a:r>
              <a:rPr lang="kk-KZ" sz="1600" b="0">
                <a:solidFill>
                  <a:srgbClr val="1F2937"/>
                </a:solidFill>
                <a:latin typeface="Calibri"/>
              </a:rPr>
              <a:t>80% — дұрыс жаққа, 10% — солға, 10% — оңға сырғиды.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42832" y="2834640"/>
            <a:ext cx="2633472" cy="1737360"/>
          </a:xfrm>
          <a:prstGeom prst="roundRect">
            <a:avLst>
              <a:gd name="adj" fmla="val 8000"/>
            </a:avLst>
          </a:prstGeom>
          <a:solidFill>
            <a:srgbClr val="E6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k-KZ"/>
          </a:p>
        </p:txBody>
      </p:sp>
      <p:sp>
        <p:nvSpPr>
          <p:cNvPr id="18" name="TextBox 17"/>
          <p:cNvSpPr txBox="1"/>
          <p:nvPr/>
        </p:nvSpPr>
        <p:spPr>
          <a:xfrm>
            <a:off x="9079992" y="2926080"/>
            <a:ext cx="2359152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>
              <a:spcAft>
                <a:spcPts val="400"/>
              </a:spcAft>
            </a:pPr>
            <a:r>
              <a:rPr lang="kk-KZ" sz="1800" b="1">
                <a:solidFill>
                  <a:srgbClr val="1F2937"/>
                </a:solidFill>
                <a:latin typeface="Calibri"/>
              </a:rPr>
              <a:t>4. Марапат (R)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79992" y="3383280"/>
            <a:ext cx="2359152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>
              <a:spcAft>
                <a:spcPts val="400"/>
              </a:spcAft>
            </a:pPr>
            <a:r>
              <a:rPr lang="kk-KZ" sz="1600" b="1">
                <a:solidFill>
                  <a:srgbClr val="1F2937"/>
                </a:solidFill>
                <a:latin typeface="Calibri"/>
              </a:rPr>
              <a:t>«Қанша ұпай аламын?»</a:t>
            </a:r>
          </a:p>
          <a:p>
            <a:pPr algn="l">
              <a:spcAft>
                <a:spcPts val="400"/>
              </a:spcAft>
            </a:pPr>
            <a:r>
              <a:rPr lang="kk-KZ" sz="1600" b="0">
                <a:solidFill>
                  <a:srgbClr val="1F2937"/>
                </a:solidFill>
                <a:latin typeface="Calibri"/>
              </a:rPr>
              <a:t>G: +10, X: −10, әр қадам: −0.1.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754880"/>
            <a:ext cx="11064240" cy="1188720"/>
          </a:xfrm>
          <a:prstGeom prst="roundRect">
            <a:avLst>
              <a:gd name="adj" fmla="val 8000"/>
            </a:avLst>
          </a:prstGeom>
          <a:solidFill>
            <a:srgbClr val="FFF3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k-KZ"/>
          </a:p>
        </p:txBody>
      </p:sp>
      <p:sp>
        <p:nvSpPr>
          <p:cNvPr id="21" name="TextBox 20"/>
          <p:cNvSpPr txBox="1"/>
          <p:nvPr/>
        </p:nvSpPr>
        <p:spPr>
          <a:xfrm>
            <a:off x="685800" y="4846320"/>
            <a:ext cx="10790000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>
              <a:spcAft>
                <a:spcPts val="400"/>
              </a:spcAft>
            </a:pPr>
            <a:r>
              <a:rPr lang="kk-KZ" sz="1800" b="1">
                <a:solidFill>
                  <a:srgbClr val="1F2937"/>
                </a:solidFill>
                <a:latin typeface="Calibri"/>
              </a:rPr>
              <a:t>Негізгі мақсат</a:t>
            </a:r>
          </a:p>
          <a:p>
            <a:pPr algn="l">
              <a:spcAft>
                <a:spcPts val="400"/>
              </a:spcAft>
            </a:pPr>
            <a:r>
              <a:rPr lang="kk-KZ" sz="1600" b="0">
                <a:solidFill>
                  <a:srgbClr val="1F2937"/>
                </a:solidFill>
                <a:latin typeface="Calibri"/>
              </a:rPr>
              <a:t>Ұпайдың жалпы қосындысы ең көп болуы үшін әр күйде қай әрекетті таңдау керегін табу. Бұл «жоспарды» саясат π деп атаймыз.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>
              <a:spcAft>
                <a:spcPts val="400"/>
              </a:spcAft>
            </a:pPr>
            <a:r>
              <a:rPr lang="kk-KZ" sz="2800" b="1">
                <a:solidFill>
                  <a:srgbClr val="1F2937"/>
                </a:solidFill>
                <a:latin typeface="Calibri"/>
              </a:rPr>
              <a:t>Тақырып қарапайым тілмен: γ, Q, V және итерация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14400"/>
            <a:ext cx="1097280" cy="54864"/>
          </a:xfrm>
          <a:prstGeom prst="rect">
            <a:avLst/>
          </a:prstGeom>
          <a:solidFill>
            <a:srgbClr val="D4A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k-KZ"/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>
              <a:spcAft>
                <a:spcPts val="400"/>
              </a:spcAft>
            </a:pPr>
            <a:r>
              <a:rPr lang="kk-KZ" sz="1700" b="0">
                <a:solidFill>
                  <a:srgbClr val="6B7280"/>
                </a:solidFill>
                <a:latin typeface="Calibri"/>
              </a:rPr>
              <a:t>Үш түсінік және бір әдіс — бәрі «қай әрекет жақсы?» деген сұраққа жауап береді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64008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r">
              <a:spcAft>
                <a:spcPts val="400"/>
              </a:spcAft>
            </a:pPr>
            <a:r>
              <a:rPr lang="kk-KZ" sz="1100" b="0">
                <a:solidFill>
                  <a:srgbClr val="6B7280"/>
                </a:solidFill>
                <a:latin typeface="Calibri"/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3578352" cy="2560320"/>
          </a:xfrm>
          <a:prstGeom prst="roundRect">
            <a:avLst>
              <a:gd name="adj" fmla="val 8000"/>
            </a:avLst>
          </a:prstGeom>
          <a:solidFill>
            <a:srgbClr val="FFF3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k-KZ"/>
          </a:p>
        </p:txBody>
      </p:sp>
      <p:sp>
        <p:nvSpPr>
          <p:cNvPr id="7" name="TextBox 6"/>
          <p:cNvSpPr txBox="1"/>
          <p:nvPr/>
        </p:nvSpPr>
        <p:spPr>
          <a:xfrm>
            <a:off x="685800" y="1828800"/>
            <a:ext cx="3304032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>
              <a:spcAft>
                <a:spcPts val="400"/>
              </a:spcAft>
            </a:pPr>
            <a:r>
              <a:rPr lang="kk-KZ" sz="1800" b="1">
                <a:solidFill>
                  <a:srgbClr val="1F2937"/>
                </a:solidFill>
                <a:latin typeface="Calibri"/>
              </a:rPr>
              <a:t>γ — күтуге жеңілдік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286000"/>
            <a:ext cx="3304032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>
              <a:spcAft>
                <a:spcPts val="400"/>
              </a:spcAft>
            </a:pPr>
            <a:r>
              <a:rPr lang="kk-KZ" sz="1600" b="0">
                <a:solidFill>
                  <a:srgbClr val="1F2937"/>
                </a:solidFill>
                <a:latin typeface="Calibri"/>
              </a:rPr>
              <a:t>Бүгінгі ұпай ертеңгіден құнды. γ үлкен (0.9) — робот сабырлы, алысты көреді; γ кіші (0.2) — асығыс.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794760"/>
            <a:ext cx="3304032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normAutofit/>
          </a:bodyPr>
          <a:lstStyle/>
          <a:p>
            <a:pPr algn="l">
              <a:spcAft>
                <a:spcPts val="400"/>
              </a:spcAft>
            </a:pPr>
            <a:r>
              <a:rPr lang="kk-KZ" sz="1600" b="1">
                <a:solidFill>
                  <a:srgbClr val="1F2937"/>
                </a:solidFill>
                <a:latin typeface="Calibri"/>
              </a:rPr>
              <a:t>U = r₀ + γ·r₁ + γ²·r₂ + 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1584" y="1737360"/>
            <a:ext cx="3578352" cy="2560320"/>
          </a:xfrm>
          <a:prstGeom prst="roundRect">
            <a:avLst>
              <a:gd name="adj" fmla="val 8000"/>
            </a:avLst>
          </a:prstGeom>
          <a:solidFill>
            <a:srgbClr val="E6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k-KZ"/>
          </a:p>
        </p:txBody>
      </p:sp>
      <p:sp>
        <p:nvSpPr>
          <p:cNvPr id="11" name="TextBox 10"/>
          <p:cNvSpPr txBox="1"/>
          <p:nvPr/>
        </p:nvSpPr>
        <p:spPr>
          <a:xfrm>
            <a:off x="4428744" y="1828800"/>
            <a:ext cx="3304032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>
              <a:spcAft>
                <a:spcPts val="400"/>
              </a:spcAft>
            </a:pPr>
            <a:r>
              <a:rPr lang="kk-KZ" sz="1800" b="1">
                <a:solidFill>
                  <a:srgbClr val="1F2937"/>
                </a:solidFill>
                <a:latin typeface="Calibri"/>
              </a:rPr>
              <a:t>Q(s,a) — әрекеттің бағасы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8744" y="2286000"/>
            <a:ext cx="3304032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>
              <a:spcAft>
                <a:spcPts val="400"/>
              </a:spcAft>
            </a:pPr>
            <a:r>
              <a:rPr lang="kk-KZ" sz="1600" b="0">
                <a:solidFill>
                  <a:srgbClr val="1F2937"/>
                </a:solidFill>
                <a:latin typeface="Calibri"/>
              </a:rPr>
              <a:t>«Осы күйде осы қадамды жасасам, орташа есеппен қанша ұпай аламын?»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8744" y="3794760"/>
            <a:ext cx="3304032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normAutofit/>
          </a:bodyPr>
          <a:lstStyle/>
          <a:p>
            <a:pPr algn="l">
              <a:spcAft>
                <a:spcPts val="400"/>
              </a:spcAft>
            </a:pPr>
            <a:r>
              <a:rPr lang="kk-KZ" sz="1600" b="1">
                <a:solidFill>
                  <a:srgbClr val="1F2937"/>
                </a:solidFill>
                <a:latin typeface="Calibri"/>
              </a:rPr>
              <a:t>Q = Σ P · [ R + γ·V(s′) 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34528" y="1737360"/>
            <a:ext cx="3578352" cy="2560320"/>
          </a:xfrm>
          <a:prstGeom prst="roundRect">
            <a:avLst>
              <a:gd name="adj" fmla="val 8000"/>
            </a:avLst>
          </a:prstGeom>
          <a:solidFill>
            <a:srgbClr val="DDF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k-KZ"/>
          </a:p>
        </p:txBody>
      </p:sp>
      <p:sp>
        <p:nvSpPr>
          <p:cNvPr id="15" name="TextBox 14"/>
          <p:cNvSpPr txBox="1"/>
          <p:nvPr/>
        </p:nvSpPr>
        <p:spPr>
          <a:xfrm>
            <a:off x="8171688" y="1828800"/>
            <a:ext cx="3304032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>
              <a:spcAft>
                <a:spcPts val="400"/>
              </a:spcAft>
            </a:pPr>
            <a:r>
              <a:rPr lang="kk-KZ" sz="1800" b="1">
                <a:solidFill>
                  <a:srgbClr val="1F2937"/>
                </a:solidFill>
                <a:latin typeface="Calibri"/>
              </a:rPr>
              <a:t>V(s) — күйдің бағасы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71688" y="2286000"/>
            <a:ext cx="3304032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>
              <a:spcAft>
                <a:spcPts val="400"/>
              </a:spcAft>
            </a:pPr>
            <a:r>
              <a:rPr lang="kk-KZ" sz="1600" b="0">
                <a:solidFill>
                  <a:srgbClr val="1F2937"/>
                </a:solidFill>
                <a:latin typeface="Calibri"/>
              </a:rPr>
              <a:t>Барлық әрекеттің ішіндегі ең жақсысының Q-ы. Сол әрекетті таңдау — саясат π.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71688" y="3794760"/>
            <a:ext cx="3304032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normAutofit/>
          </a:bodyPr>
          <a:lstStyle/>
          <a:p>
            <a:pPr algn="l">
              <a:spcAft>
                <a:spcPts val="400"/>
              </a:spcAft>
            </a:pPr>
            <a:r>
              <a:rPr lang="kk-KZ" sz="1600" b="1">
                <a:solidFill>
                  <a:srgbClr val="1F2937"/>
                </a:solidFill>
                <a:latin typeface="Calibri"/>
              </a:rPr>
              <a:t>V(s) = max Q(s,a)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480560"/>
            <a:ext cx="11064240" cy="1280160"/>
          </a:xfrm>
          <a:prstGeom prst="roundRect">
            <a:avLst>
              <a:gd name="adj" fmla="val 8000"/>
            </a:avLst>
          </a:prstGeom>
          <a:solidFill>
            <a:srgbClr val="FBE1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k-KZ"/>
          </a:p>
        </p:txBody>
      </p:sp>
      <p:sp>
        <p:nvSpPr>
          <p:cNvPr id="19" name="TextBox 18"/>
          <p:cNvSpPr txBox="1"/>
          <p:nvPr/>
        </p:nvSpPr>
        <p:spPr>
          <a:xfrm>
            <a:off x="685800" y="4572000"/>
            <a:ext cx="1079000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>
              <a:spcAft>
                <a:spcPts val="400"/>
              </a:spcAft>
            </a:pPr>
            <a:r>
              <a:rPr lang="kk-KZ" sz="1800" b="1">
                <a:solidFill>
                  <a:srgbClr val="1F2937"/>
                </a:solidFill>
                <a:latin typeface="Calibri"/>
              </a:rPr>
              <a:t>Мәндер итерациясы — «жақсылықтың таралуы»</a:t>
            </a:r>
          </a:p>
          <a:p>
            <a:pPr algn="l">
              <a:spcAft>
                <a:spcPts val="400"/>
              </a:spcAft>
            </a:pPr>
            <a:r>
              <a:rPr lang="kk-KZ" sz="1600" b="0">
                <a:solidFill>
                  <a:srgbClr val="1F2937"/>
                </a:solidFill>
                <a:latin typeface="Calibri"/>
              </a:rPr>
              <a:t>Басында барлық күйде V = 0, тек G-да ұпай бар. Әр айналымда Q есептеп, ең үлкенін аламыз — жақсылық G-дан C, E, H… күйлеріне тарайды. Мәндер өзгермей қалғанда ең жақсы саясат дайын.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